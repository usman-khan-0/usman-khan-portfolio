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4"/>
  </p:notesMasterIdLst>
  <p:sldIdLst>
    <p:sldId id="256" r:id="rId2"/>
    <p:sldId id="257" r:id="rId3"/>
    <p:sldId id="288" r:id="rId4"/>
    <p:sldId id="258" r:id="rId5"/>
    <p:sldId id="259" r:id="rId6"/>
    <p:sldId id="260" r:id="rId7"/>
    <p:sldId id="261" r:id="rId8"/>
    <p:sldId id="262" r:id="rId9"/>
    <p:sldId id="263" r:id="rId10"/>
    <p:sldId id="264" r:id="rId11"/>
    <p:sldId id="265" r:id="rId12"/>
    <p:sldId id="267" r:id="rId13"/>
    <p:sldId id="286" r:id="rId14"/>
    <p:sldId id="269" r:id="rId15"/>
    <p:sldId id="270" r:id="rId16"/>
    <p:sldId id="271" r:id="rId17"/>
    <p:sldId id="272" r:id="rId18"/>
    <p:sldId id="276" r:id="rId19"/>
    <p:sldId id="287" r:id="rId20"/>
    <p:sldId id="273" r:id="rId21"/>
    <p:sldId id="277" r:id="rId22"/>
    <p:sldId id="278" r:id="rId23"/>
    <p:sldId id="279" r:id="rId24"/>
    <p:sldId id="290" r:id="rId25"/>
    <p:sldId id="291" r:id="rId26"/>
    <p:sldId id="280" r:id="rId27"/>
    <p:sldId id="292" r:id="rId28"/>
    <p:sldId id="293" r:id="rId29"/>
    <p:sldId id="281" r:id="rId30"/>
    <p:sldId id="282" r:id="rId31"/>
    <p:sldId id="283" r:id="rId32"/>
    <p:sldId id="285"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0" d="100"/>
          <a:sy n="60" d="100"/>
        </p:scale>
        <p:origin x="840"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0E3AB-929D-4E4B-BFA8-E656D6D9F0A2}" type="datetimeFigureOut">
              <a:rPr lang="en-US" smtClean="0"/>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8E1762-C021-448A-822C-0342661B956B}" type="slidenum">
              <a:rPr lang="en-US" smtClean="0"/>
              <a:t>‹#›</a:t>
            </a:fld>
            <a:endParaRPr lang="en-US"/>
          </a:p>
        </p:txBody>
      </p:sp>
    </p:spTree>
    <p:extLst>
      <p:ext uri="{BB962C8B-B14F-4D97-AF65-F5344CB8AC3E}">
        <p14:creationId xmlns:p14="http://schemas.microsoft.com/office/powerpoint/2010/main" val="615114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9" name="Picture 8"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r>
              <a:rPr lang="en-US"/>
              <a:t>6/1/2026</a:t>
            </a:r>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en-US"/>
              <a:t>6/1/2026</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en-US"/>
              <a:t>6/1/2026</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6/1/2026</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6/1/2026</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6/1/2026</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6/1/2026</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r>
              <a:rPr lang="en-US"/>
              <a:t>6/1/2026</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r>
              <a:rPr lang="en-US"/>
              <a:t>6/1/2026</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r>
              <a:rPr lang="en-US"/>
              <a:t>6/1/2026</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en-US"/>
              <a:t>6/1/2026</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en-US"/>
              <a:t>6/1/2026</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en-US"/>
              <a:t>6/1/2026</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en-US"/>
              <a:t>6/1/2026</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en-US"/>
              <a:t>6/1/2026</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6/1/2026</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6/1/2026</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r>
              <a:rPr lang="en-US"/>
              <a:t>6/1/2026</a:t>
            </a:r>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hf hdr="0" ftr="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2398" y="1871131"/>
            <a:ext cx="6979503" cy="1060605"/>
          </a:xfrm>
        </p:spPr>
        <p:txBody>
          <a:bodyPr/>
          <a:lstStyle/>
          <a:p>
            <a:r>
              <a:rPr lang="en-GB" sz="4800" dirty="0"/>
              <a:t>Mechanics of Material-II</a:t>
            </a:r>
          </a:p>
        </p:txBody>
      </p:sp>
      <p:sp>
        <p:nvSpPr>
          <p:cNvPr id="3" name="Subtitle 2"/>
          <p:cNvSpPr>
            <a:spLocks noGrp="1"/>
          </p:cNvSpPr>
          <p:nvPr>
            <p:ph type="subTitle" idx="1"/>
          </p:nvPr>
        </p:nvSpPr>
        <p:spPr/>
        <p:txBody>
          <a:bodyPr>
            <a:normAutofit/>
          </a:bodyPr>
          <a:lstStyle/>
          <a:p>
            <a:r>
              <a:rPr lang="en-GB" sz="4000" b="1" dirty="0"/>
              <a:t>Project presentation</a:t>
            </a:r>
          </a:p>
        </p:txBody>
      </p:sp>
      <p:sp>
        <p:nvSpPr>
          <p:cNvPr id="4" name="Slide Number Placeholder 3">
            <a:extLst>
              <a:ext uri="{FF2B5EF4-FFF2-40B4-BE49-F238E27FC236}">
                <a16:creationId xmlns:a16="http://schemas.microsoft.com/office/drawing/2014/main" id="{EA3E5585-C682-24A6-F802-93D6C885DC42}"/>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
        <p:nvSpPr>
          <p:cNvPr id="5" name="Date Placeholder 4">
            <a:extLst>
              <a:ext uri="{FF2B5EF4-FFF2-40B4-BE49-F238E27FC236}">
                <a16:creationId xmlns:a16="http://schemas.microsoft.com/office/drawing/2014/main" id="{AC3C366E-09F4-6DE2-E99F-9944D2A46FD0}"/>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186166066"/>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Project Title</a:t>
            </a:r>
          </a:p>
        </p:txBody>
      </p:sp>
      <p:sp>
        <p:nvSpPr>
          <p:cNvPr id="3" name="Content Placeholder 2"/>
          <p:cNvSpPr>
            <a:spLocks noGrp="1"/>
          </p:cNvSpPr>
          <p:nvPr>
            <p:ph idx="1"/>
          </p:nvPr>
        </p:nvSpPr>
        <p:spPr/>
        <p:txBody>
          <a:bodyPr/>
          <a:lstStyle/>
          <a:p>
            <a:pPr algn="just"/>
            <a:r>
              <a:rPr lang="en-GB" dirty="0"/>
              <a:t>Design a rear dead axle for carrying maximum 1500kg load. Find Principal stresses for the designed structure under assumed loading. Optimize your solution by properly selecting material  and geometry to reduce mass and cross section size</a:t>
            </a:r>
          </a:p>
        </p:txBody>
      </p:sp>
      <p:sp>
        <p:nvSpPr>
          <p:cNvPr id="4" name="Slide Number Placeholder 3">
            <a:extLst>
              <a:ext uri="{FF2B5EF4-FFF2-40B4-BE49-F238E27FC236}">
                <a16:creationId xmlns:a16="http://schemas.microsoft.com/office/drawing/2014/main" id="{CA10D338-8029-9915-C3D2-4CB1A0EAC4CC}"/>
              </a:ext>
            </a:extLst>
          </p:cNvPr>
          <p:cNvSpPr>
            <a:spLocks noGrp="1"/>
          </p:cNvSpPr>
          <p:nvPr>
            <p:ph type="sldNum" sz="quarter" idx="12"/>
          </p:nvPr>
        </p:nvSpPr>
        <p:spPr/>
        <p:txBody>
          <a:bodyPr/>
          <a:lstStyle/>
          <a:p>
            <a:fld id="{5D84065D-F351-4B03-BD91-D8A6B8D4B362}" type="slidenum">
              <a:rPr lang="en-US" smtClean="0"/>
              <a:t>2</a:t>
            </a:fld>
            <a:endParaRPr lang="en-US" dirty="0"/>
          </a:p>
        </p:txBody>
      </p:sp>
      <p:sp>
        <p:nvSpPr>
          <p:cNvPr id="5" name="Date Placeholder 4">
            <a:extLst>
              <a:ext uri="{FF2B5EF4-FFF2-40B4-BE49-F238E27FC236}">
                <a16:creationId xmlns:a16="http://schemas.microsoft.com/office/drawing/2014/main" id="{F8F0E58E-FEF7-9790-4B3E-141B1454E208}"/>
              </a:ext>
            </a:extLst>
          </p:cNvPr>
          <p:cNvSpPr>
            <a:spLocks noGrp="1"/>
          </p:cNvSpPr>
          <p:nvPr>
            <p:ph type="dt" sz="half" idx="10"/>
          </p:nvPr>
        </p:nvSpPr>
        <p:spPr/>
        <p:txBody>
          <a:bodyPr/>
          <a:lstStyle/>
          <a:p>
            <a:r>
              <a:rPr lang="en-US" dirty="0"/>
              <a:t>6/1/2026</a:t>
            </a:r>
          </a:p>
        </p:txBody>
      </p:sp>
    </p:spTree>
    <p:extLst>
      <p:ext uri="{BB962C8B-B14F-4D97-AF65-F5344CB8AC3E}">
        <p14:creationId xmlns:p14="http://schemas.microsoft.com/office/powerpoint/2010/main" val="27798856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858F9-B6EC-C76F-5884-E9B3BAC71F27}"/>
              </a:ext>
            </a:extLst>
          </p:cNvPr>
          <p:cNvSpPr>
            <a:spLocks noGrp="1"/>
          </p:cNvSpPr>
          <p:nvPr>
            <p:ph type="title"/>
          </p:nvPr>
        </p:nvSpPr>
        <p:spPr/>
        <p:txBody>
          <a:bodyPr/>
          <a:lstStyle/>
          <a:p>
            <a:r>
              <a:rPr lang="en-US" b="1" dirty="0"/>
              <a:t>Group Members</a:t>
            </a:r>
          </a:p>
        </p:txBody>
      </p:sp>
      <p:graphicFrame>
        <p:nvGraphicFramePr>
          <p:cNvPr id="4" name="Content Placeholder 3">
            <a:extLst>
              <a:ext uri="{FF2B5EF4-FFF2-40B4-BE49-F238E27FC236}">
                <a16:creationId xmlns:a16="http://schemas.microsoft.com/office/drawing/2014/main" id="{35786A97-AAEF-766A-DE11-7771504FC734}"/>
              </a:ext>
            </a:extLst>
          </p:cNvPr>
          <p:cNvGraphicFramePr>
            <a:graphicFrameLocks noGrp="1"/>
          </p:cNvGraphicFramePr>
          <p:nvPr>
            <p:ph idx="1"/>
            <p:extLst>
              <p:ext uri="{D42A27DB-BD31-4B8C-83A1-F6EECF244321}">
                <p14:modId xmlns:p14="http://schemas.microsoft.com/office/powerpoint/2010/main" val="3178817508"/>
              </p:ext>
            </p:extLst>
          </p:nvPr>
        </p:nvGraphicFramePr>
        <p:xfrm>
          <a:off x="1295402" y="3088642"/>
          <a:ext cx="9601200" cy="1483360"/>
        </p:xfrm>
        <a:graphic>
          <a:graphicData uri="http://schemas.openxmlformats.org/drawingml/2006/table">
            <a:tbl>
              <a:tblPr firstRow="1" bandRow="1">
                <a:tableStyleId>{5940675A-B579-460E-94D1-54222C63F5DA}</a:tableStyleId>
              </a:tblPr>
              <a:tblGrid>
                <a:gridCol w="1701186">
                  <a:extLst>
                    <a:ext uri="{9D8B030D-6E8A-4147-A177-3AD203B41FA5}">
                      <a16:colId xmlns:a16="http://schemas.microsoft.com/office/drawing/2014/main" val="1297753212"/>
                    </a:ext>
                  </a:extLst>
                </a:gridCol>
                <a:gridCol w="4699614">
                  <a:extLst>
                    <a:ext uri="{9D8B030D-6E8A-4147-A177-3AD203B41FA5}">
                      <a16:colId xmlns:a16="http://schemas.microsoft.com/office/drawing/2014/main" val="885395324"/>
                    </a:ext>
                  </a:extLst>
                </a:gridCol>
                <a:gridCol w="3200400">
                  <a:extLst>
                    <a:ext uri="{9D8B030D-6E8A-4147-A177-3AD203B41FA5}">
                      <a16:colId xmlns:a16="http://schemas.microsoft.com/office/drawing/2014/main" val="1922039831"/>
                    </a:ext>
                  </a:extLst>
                </a:gridCol>
              </a:tblGrid>
              <a:tr h="370840">
                <a:tc>
                  <a:txBody>
                    <a:bodyPr/>
                    <a:lstStyle/>
                    <a:p>
                      <a:r>
                        <a:rPr lang="en-US" dirty="0"/>
                        <a:t>Sr. No</a:t>
                      </a:r>
                    </a:p>
                  </a:txBody>
                  <a:tcPr/>
                </a:tc>
                <a:tc>
                  <a:txBody>
                    <a:bodyPr/>
                    <a:lstStyle/>
                    <a:p>
                      <a:r>
                        <a:rPr lang="en-US" dirty="0"/>
                        <a:t>Names</a:t>
                      </a:r>
                    </a:p>
                  </a:txBody>
                  <a:tcPr/>
                </a:tc>
                <a:tc>
                  <a:txBody>
                    <a:bodyPr/>
                    <a:lstStyle/>
                    <a:p>
                      <a:r>
                        <a:rPr lang="en-US" dirty="0"/>
                        <a:t>Reg No</a:t>
                      </a:r>
                    </a:p>
                  </a:txBody>
                  <a:tcPr/>
                </a:tc>
                <a:extLst>
                  <a:ext uri="{0D108BD9-81ED-4DB2-BD59-A6C34878D82A}">
                    <a16:rowId xmlns:a16="http://schemas.microsoft.com/office/drawing/2014/main" val="3786502198"/>
                  </a:ext>
                </a:extLst>
              </a:tr>
              <a:tr h="370840">
                <a:tc>
                  <a:txBody>
                    <a:bodyPr/>
                    <a:lstStyle/>
                    <a:p>
                      <a:r>
                        <a:rPr lang="en-US" dirty="0"/>
                        <a:t>1</a:t>
                      </a:r>
                    </a:p>
                  </a:txBody>
                  <a:tcPr/>
                </a:tc>
                <a:tc>
                  <a:txBody>
                    <a:bodyPr/>
                    <a:lstStyle/>
                    <a:p>
                      <a:r>
                        <a:rPr lang="en-US" dirty="0"/>
                        <a:t>Junaid Yaseen</a:t>
                      </a:r>
                    </a:p>
                  </a:txBody>
                  <a:tcPr/>
                </a:tc>
                <a:tc>
                  <a:txBody>
                    <a:bodyPr/>
                    <a:lstStyle/>
                    <a:p>
                      <a:r>
                        <a:rPr lang="en-US" dirty="0"/>
                        <a:t>241247</a:t>
                      </a:r>
                    </a:p>
                  </a:txBody>
                  <a:tcPr/>
                </a:tc>
                <a:extLst>
                  <a:ext uri="{0D108BD9-81ED-4DB2-BD59-A6C34878D82A}">
                    <a16:rowId xmlns:a16="http://schemas.microsoft.com/office/drawing/2014/main" val="3783452095"/>
                  </a:ext>
                </a:extLst>
              </a:tr>
              <a:tr h="370840">
                <a:tc>
                  <a:txBody>
                    <a:bodyPr/>
                    <a:lstStyle/>
                    <a:p>
                      <a:r>
                        <a:rPr lang="en-US" dirty="0"/>
                        <a:t>2</a:t>
                      </a:r>
                    </a:p>
                  </a:txBody>
                  <a:tcPr/>
                </a:tc>
                <a:tc>
                  <a:txBody>
                    <a:bodyPr/>
                    <a:lstStyle/>
                    <a:p>
                      <a:r>
                        <a:rPr lang="en-US" dirty="0"/>
                        <a:t>Muhammad Usman Khan</a:t>
                      </a:r>
                    </a:p>
                  </a:txBody>
                  <a:tcPr/>
                </a:tc>
                <a:tc>
                  <a:txBody>
                    <a:bodyPr/>
                    <a:lstStyle/>
                    <a:p>
                      <a:r>
                        <a:rPr lang="en-US" dirty="0"/>
                        <a:t>241202</a:t>
                      </a:r>
                    </a:p>
                  </a:txBody>
                  <a:tcPr/>
                </a:tc>
                <a:extLst>
                  <a:ext uri="{0D108BD9-81ED-4DB2-BD59-A6C34878D82A}">
                    <a16:rowId xmlns:a16="http://schemas.microsoft.com/office/drawing/2014/main" val="568000283"/>
                  </a:ext>
                </a:extLst>
              </a:tr>
              <a:tr h="370840">
                <a:tc>
                  <a:txBody>
                    <a:bodyPr/>
                    <a:lstStyle/>
                    <a:p>
                      <a:r>
                        <a:rPr lang="en-US" dirty="0"/>
                        <a:t>3</a:t>
                      </a:r>
                    </a:p>
                  </a:txBody>
                  <a:tcPr/>
                </a:tc>
                <a:tc>
                  <a:txBody>
                    <a:bodyPr/>
                    <a:lstStyle/>
                    <a:p>
                      <a:r>
                        <a:rPr lang="en-US" dirty="0"/>
                        <a:t>Areeba</a:t>
                      </a:r>
                    </a:p>
                  </a:txBody>
                  <a:tcPr/>
                </a:tc>
                <a:tc>
                  <a:txBody>
                    <a:bodyPr/>
                    <a:lstStyle/>
                    <a:p>
                      <a:r>
                        <a:rPr lang="en-US" dirty="0"/>
                        <a:t>241253</a:t>
                      </a:r>
                    </a:p>
                  </a:txBody>
                  <a:tcPr/>
                </a:tc>
                <a:extLst>
                  <a:ext uri="{0D108BD9-81ED-4DB2-BD59-A6C34878D82A}">
                    <a16:rowId xmlns:a16="http://schemas.microsoft.com/office/drawing/2014/main" val="1573654356"/>
                  </a:ext>
                </a:extLst>
              </a:tr>
            </a:tbl>
          </a:graphicData>
        </a:graphic>
      </p:graphicFrame>
      <p:sp>
        <p:nvSpPr>
          <p:cNvPr id="3" name="Slide Number Placeholder 2">
            <a:extLst>
              <a:ext uri="{FF2B5EF4-FFF2-40B4-BE49-F238E27FC236}">
                <a16:creationId xmlns:a16="http://schemas.microsoft.com/office/drawing/2014/main" id="{56231EF2-11A2-1A03-23EE-817204B57F9B}"/>
              </a:ext>
            </a:extLst>
          </p:cNvPr>
          <p:cNvSpPr>
            <a:spLocks noGrp="1"/>
          </p:cNvSpPr>
          <p:nvPr>
            <p:ph type="sldNum" sz="quarter" idx="12"/>
          </p:nvPr>
        </p:nvSpPr>
        <p:spPr/>
        <p:txBody>
          <a:bodyPr/>
          <a:lstStyle/>
          <a:p>
            <a:fld id="{5D84065D-F351-4B03-BD91-D8A6B8D4B362}" type="slidenum">
              <a:rPr lang="en-US" smtClean="0"/>
              <a:t>3</a:t>
            </a:fld>
            <a:endParaRPr lang="en-US" dirty="0"/>
          </a:p>
        </p:txBody>
      </p:sp>
      <p:sp>
        <p:nvSpPr>
          <p:cNvPr id="5" name="Date Placeholder 4">
            <a:extLst>
              <a:ext uri="{FF2B5EF4-FFF2-40B4-BE49-F238E27FC236}">
                <a16:creationId xmlns:a16="http://schemas.microsoft.com/office/drawing/2014/main" id="{89176895-A6A9-814D-14B5-FA3CCA8B3C65}"/>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2394307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p:txBody>
          <a:bodyPr>
            <a:normAutofit/>
          </a:bodyPr>
          <a:lstStyle/>
          <a:p>
            <a:r>
              <a:rPr lang="en-GB" dirty="0">
                <a:latin typeface="Times New Roman" panose="02020603050405020304" pitchFamily="18" charset="0"/>
                <a:cs typeface="Times New Roman" panose="02020603050405020304" pitchFamily="18" charset="0"/>
              </a:rPr>
              <a:t>Rear axle is an important structural component.</a:t>
            </a:r>
          </a:p>
          <a:p>
            <a:r>
              <a:rPr lang="en-GB" dirty="0">
                <a:latin typeface="Times New Roman" panose="02020603050405020304" pitchFamily="18" charset="0"/>
                <a:cs typeface="Times New Roman" panose="02020603050405020304" pitchFamily="18" charset="0"/>
              </a:rPr>
              <a:t>Supports vehicle body and payload</a:t>
            </a:r>
          </a:p>
          <a:p>
            <a:r>
              <a:rPr lang="en-GB" dirty="0">
                <a:latin typeface="Times New Roman" panose="02020603050405020304" pitchFamily="18" charset="0"/>
                <a:cs typeface="Times New Roman" panose="02020603050405020304" pitchFamily="18" charset="0"/>
              </a:rPr>
              <a:t>Maintains wheel alignment</a:t>
            </a:r>
          </a:p>
          <a:p>
            <a:r>
              <a:rPr lang="en-GB" dirty="0">
                <a:latin typeface="Times New Roman" panose="02020603050405020304" pitchFamily="18" charset="0"/>
                <a:cs typeface="Times New Roman" panose="02020603050405020304" pitchFamily="18" charset="0"/>
              </a:rPr>
              <a:t>Transfer load to suspension system.</a:t>
            </a:r>
          </a:p>
          <a:p>
            <a:r>
              <a:rPr lang="en-GB" dirty="0">
                <a:latin typeface="Times New Roman" panose="02020603050405020304" pitchFamily="18" charset="0"/>
                <a:cs typeface="Times New Roman" panose="02020603050405020304" pitchFamily="18" charset="0"/>
              </a:rPr>
              <a:t>Pickup trucks experience heavy loading condition.</a:t>
            </a:r>
          </a:p>
          <a:p>
            <a:endParaRPr lang="en-GB"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24270B3-CC3A-2DC5-3E3C-4FA67697F0B7}"/>
              </a:ext>
            </a:extLst>
          </p:cNvPr>
          <p:cNvSpPr>
            <a:spLocks noGrp="1"/>
          </p:cNvSpPr>
          <p:nvPr>
            <p:ph type="sldNum" sz="quarter" idx="12"/>
          </p:nvPr>
        </p:nvSpPr>
        <p:spPr/>
        <p:txBody>
          <a:bodyPr/>
          <a:lstStyle/>
          <a:p>
            <a:fld id="{5D84065D-F351-4B03-BD91-D8A6B8D4B362}" type="slidenum">
              <a:rPr lang="en-US" smtClean="0"/>
              <a:t>4</a:t>
            </a:fld>
            <a:endParaRPr lang="en-US" dirty="0"/>
          </a:p>
        </p:txBody>
      </p:sp>
      <p:sp>
        <p:nvSpPr>
          <p:cNvPr id="5" name="Date Placeholder 4">
            <a:extLst>
              <a:ext uri="{FF2B5EF4-FFF2-40B4-BE49-F238E27FC236}">
                <a16:creationId xmlns:a16="http://schemas.microsoft.com/office/drawing/2014/main" id="{576442C9-3C84-549F-D3A1-73CE2B818EFD}"/>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71894409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Importance of Rear Axle</a:t>
            </a:r>
          </a:p>
        </p:txBody>
      </p:sp>
      <p:sp>
        <p:nvSpPr>
          <p:cNvPr id="4" name="Rectangle 1"/>
          <p:cNvSpPr>
            <a:spLocks noGrp="1" noChangeArrowheads="1"/>
          </p:cNvSpPr>
          <p:nvPr>
            <p:ph idx="1"/>
          </p:nvPr>
        </p:nvSpPr>
        <p:spPr bwMode="auto">
          <a:xfrm>
            <a:off x="1295401" y="2556932"/>
            <a:ext cx="559307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vertical loads</a:t>
            </a: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Maintains stability</a:t>
            </a: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Resists bending and shear</a:t>
            </a: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wheel mounting</a:t>
            </a: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ride comfort </a:t>
            </a:r>
          </a:p>
        </p:txBody>
      </p:sp>
      <p:sp>
        <p:nvSpPr>
          <p:cNvPr id="3" name="Slide Number Placeholder 2">
            <a:extLst>
              <a:ext uri="{FF2B5EF4-FFF2-40B4-BE49-F238E27FC236}">
                <a16:creationId xmlns:a16="http://schemas.microsoft.com/office/drawing/2014/main" id="{9AEFB1DB-77EF-B6A0-8919-3ECE1B8C85D7}"/>
              </a:ext>
            </a:extLst>
          </p:cNvPr>
          <p:cNvSpPr>
            <a:spLocks noGrp="1"/>
          </p:cNvSpPr>
          <p:nvPr>
            <p:ph type="sldNum" sz="quarter" idx="12"/>
          </p:nvPr>
        </p:nvSpPr>
        <p:spPr/>
        <p:txBody>
          <a:bodyPr/>
          <a:lstStyle/>
          <a:p>
            <a:fld id="{5D84065D-F351-4B03-BD91-D8A6B8D4B362}" type="slidenum">
              <a:rPr lang="en-US" smtClean="0"/>
              <a:t>5</a:t>
            </a:fld>
            <a:endParaRPr lang="en-US" dirty="0"/>
          </a:p>
        </p:txBody>
      </p:sp>
      <p:sp>
        <p:nvSpPr>
          <p:cNvPr id="5" name="Date Placeholder 4">
            <a:extLst>
              <a:ext uri="{FF2B5EF4-FFF2-40B4-BE49-F238E27FC236}">
                <a16:creationId xmlns:a16="http://schemas.microsoft.com/office/drawing/2014/main" id="{26563BFA-F077-495C-6824-9126665032FA}"/>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1894861588"/>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1003902"/>
            <a:ext cx="9601196" cy="1303867"/>
          </a:xfrm>
        </p:spPr>
        <p:txBody>
          <a:bodyPr/>
          <a:lstStyle/>
          <a:p>
            <a:r>
              <a:rPr lang="en-GB" dirty="0"/>
              <a:t>Aim of the Project</a:t>
            </a:r>
          </a:p>
        </p:txBody>
      </p:sp>
      <p:sp>
        <p:nvSpPr>
          <p:cNvPr id="3" name="Content Placeholder 2"/>
          <p:cNvSpPr>
            <a:spLocks noGrp="1"/>
          </p:cNvSpPr>
          <p:nvPr>
            <p:ph idx="1"/>
          </p:nvPr>
        </p:nvSpPr>
        <p:spPr/>
        <p:txBody>
          <a:bodyPr>
            <a:normAutofit lnSpcReduction="10000"/>
          </a:bodyPr>
          <a:lstStyle/>
          <a:p>
            <a:pPr marL="0" indent="0">
              <a:buNone/>
            </a:pPr>
            <a:r>
              <a:rPr lang="en-GB" dirty="0"/>
              <a:t>To design a safe and optimized rear dead axle for Hyundai H-100 pickup truck capable of carrying 1500 kg maximum payload.</a:t>
            </a:r>
          </a:p>
          <a:p>
            <a:pPr marL="0" indent="0">
              <a:buNone/>
            </a:pPr>
            <a:r>
              <a:rPr lang="en-GB" dirty="0"/>
              <a:t>Main goals:</a:t>
            </a:r>
          </a:p>
          <a:p>
            <a:r>
              <a:rPr lang="en-GB" dirty="0"/>
              <a:t>Safety</a:t>
            </a:r>
          </a:p>
          <a:p>
            <a:r>
              <a:rPr lang="en-GB" dirty="0"/>
              <a:t>Strength</a:t>
            </a:r>
          </a:p>
          <a:p>
            <a:r>
              <a:rPr lang="en-GB" dirty="0"/>
              <a:t>Reduced weight</a:t>
            </a:r>
          </a:p>
          <a:p>
            <a:r>
              <a:rPr lang="en-GB" dirty="0"/>
              <a:t>Cost effectiveness</a:t>
            </a:r>
          </a:p>
        </p:txBody>
      </p:sp>
      <p:sp>
        <p:nvSpPr>
          <p:cNvPr id="4" name="Slide Number Placeholder 3">
            <a:extLst>
              <a:ext uri="{FF2B5EF4-FFF2-40B4-BE49-F238E27FC236}">
                <a16:creationId xmlns:a16="http://schemas.microsoft.com/office/drawing/2014/main" id="{E15C13DD-0B41-EC71-A075-A67AB3EE107F}"/>
              </a:ext>
            </a:extLst>
          </p:cNvPr>
          <p:cNvSpPr>
            <a:spLocks noGrp="1"/>
          </p:cNvSpPr>
          <p:nvPr>
            <p:ph type="sldNum" sz="quarter" idx="12"/>
          </p:nvPr>
        </p:nvSpPr>
        <p:spPr/>
        <p:txBody>
          <a:bodyPr/>
          <a:lstStyle/>
          <a:p>
            <a:fld id="{5D84065D-F351-4B03-BD91-D8A6B8D4B362}" type="slidenum">
              <a:rPr lang="en-US" smtClean="0"/>
              <a:t>6</a:t>
            </a:fld>
            <a:endParaRPr lang="en-US" dirty="0"/>
          </a:p>
        </p:txBody>
      </p:sp>
      <p:sp>
        <p:nvSpPr>
          <p:cNvPr id="5" name="Date Placeholder 4">
            <a:extLst>
              <a:ext uri="{FF2B5EF4-FFF2-40B4-BE49-F238E27FC236}">
                <a16:creationId xmlns:a16="http://schemas.microsoft.com/office/drawing/2014/main" id="{E67007D2-330D-A0E2-4331-E0EE3A9BB4DA}"/>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488073749"/>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Project Objectives </a:t>
            </a:r>
          </a:p>
        </p:txBody>
      </p:sp>
      <p:sp>
        <p:nvSpPr>
          <p:cNvPr id="4" name="Rectangle 1"/>
          <p:cNvSpPr>
            <a:spLocks noGrp="1" noChangeArrowheads="1"/>
          </p:cNvSpPr>
          <p:nvPr>
            <p:ph idx="1"/>
          </p:nvPr>
        </p:nvSpPr>
        <p:spPr bwMode="auto">
          <a:xfrm>
            <a:off x="1295401" y="2556931"/>
            <a:ext cx="9224912"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lvl="0" indent="0" defTabSz="914400" eaLnBrk="0" fontAlgn="base" hangingPunct="0">
              <a:spcBef>
                <a:spcPct val="0"/>
              </a:spcBef>
              <a:spcAft>
                <a:spcPct val="0"/>
              </a:spcAft>
              <a:buSzTx/>
              <a:buFontTx/>
              <a:buChar char="•"/>
            </a:pPr>
            <a:r>
              <a:rPr lang="en-US" altLang="en-US" dirty="0">
                <a:solidFill>
                  <a:schemeClr val="tx1"/>
                </a:solidFill>
              </a:rPr>
              <a:t>Design rear dead axle</a:t>
            </a:r>
          </a:p>
          <a:p>
            <a:pPr marL="0" lvl="0" indent="0" defTabSz="914400" eaLnBrk="0" fontAlgn="base" hangingPunct="0">
              <a:spcBef>
                <a:spcPct val="0"/>
              </a:spcBef>
              <a:spcAft>
                <a:spcPct val="0"/>
              </a:spcAft>
              <a:buSzTx/>
              <a:buFontTx/>
              <a:buChar char="•"/>
            </a:pPr>
            <a:r>
              <a:rPr lang="en-US" altLang="en-US" dirty="0">
                <a:solidFill>
                  <a:schemeClr val="tx1"/>
                </a:solidFill>
              </a:rPr>
              <a:t>Calculate support reactions</a:t>
            </a:r>
          </a:p>
          <a:p>
            <a:pPr marL="0" lvl="0" indent="0" defTabSz="914400" eaLnBrk="0" fontAlgn="base" hangingPunct="0">
              <a:spcBef>
                <a:spcPct val="0"/>
              </a:spcBef>
              <a:spcAft>
                <a:spcPct val="0"/>
              </a:spcAft>
              <a:buSzTx/>
              <a:buFontTx/>
              <a:buChar char="•"/>
            </a:pPr>
            <a:r>
              <a:rPr lang="en-US" altLang="en-US" dirty="0">
                <a:solidFill>
                  <a:schemeClr val="tx1"/>
                </a:solidFill>
              </a:rPr>
              <a:t>Determine bending and shear stresses</a:t>
            </a:r>
          </a:p>
          <a:p>
            <a:pPr marL="0" lvl="0" indent="0" defTabSz="914400" eaLnBrk="0" fontAlgn="base" hangingPunct="0">
              <a:spcBef>
                <a:spcPct val="0"/>
              </a:spcBef>
              <a:spcAft>
                <a:spcPct val="0"/>
              </a:spcAft>
              <a:buSzTx/>
              <a:buFontTx/>
              <a:buChar char="•"/>
            </a:pPr>
            <a:r>
              <a:rPr lang="en-US" altLang="en-US" dirty="0">
                <a:solidFill>
                  <a:schemeClr val="tx1"/>
                </a:solidFill>
              </a:rPr>
              <a:t>Calculate principal stresses</a:t>
            </a:r>
          </a:p>
          <a:p>
            <a:pPr marL="0" lvl="0" indent="0" defTabSz="914400" eaLnBrk="0" fontAlgn="base" hangingPunct="0">
              <a:spcBef>
                <a:spcPct val="0"/>
              </a:spcBef>
              <a:spcAft>
                <a:spcPct val="0"/>
              </a:spcAft>
              <a:buSzTx/>
              <a:buFontTx/>
              <a:buChar char="•"/>
            </a:pPr>
            <a:r>
              <a:rPr lang="en-US" altLang="en-US" dirty="0">
                <a:solidFill>
                  <a:schemeClr val="tx1"/>
                </a:solidFill>
              </a:rPr>
              <a:t>Select suitable material</a:t>
            </a:r>
          </a:p>
          <a:p>
            <a:pPr marL="0" lvl="0" indent="0" defTabSz="914400" eaLnBrk="0" fontAlgn="base" hangingPunct="0">
              <a:spcBef>
                <a:spcPct val="0"/>
              </a:spcBef>
              <a:spcAft>
                <a:spcPct val="0"/>
              </a:spcAft>
              <a:buSzTx/>
              <a:buFontTx/>
              <a:buChar char="•"/>
            </a:pPr>
            <a:r>
              <a:rPr lang="en-US" altLang="en-US" dirty="0">
                <a:solidFill>
                  <a:schemeClr val="tx1"/>
                </a:solidFill>
              </a:rPr>
              <a:t>Optimize axle geometry</a:t>
            </a:r>
          </a:p>
          <a:p>
            <a:pPr marL="0" lvl="0" indent="0" defTabSz="914400" eaLnBrk="0" fontAlgn="base" hangingPunct="0">
              <a:spcBef>
                <a:spcPct val="0"/>
              </a:spcBef>
              <a:spcAft>
                <a:spcPct val="0"/>
              </a:spcAft>
              <a:buSzTx/>
              <a:buFontTx/>
              <a:buChar char="•"/>
            </a:pPr>
            <a:r>
              <a:rPr lang="en-US" altLang="en-US" dirty="0">
                <a:solidFill>
                  <a:schemeClr val="tx1"/>
                </a:solidFill>
              </a:rPr>
              <a:t>Evaluate factor of safety </a:t>
            </a:r>
          </a:p>
        </p:txBody>
      </p:sp>
      <p:sp>
        <p:nvSpPr>
          <p:cNvPr id="3" name="Slide Number Placeholder 2">
            <a:extLst>
              <a:ext uri="{FF2B5EF4-FFF2-40B4-BE49-F238E27FC236}">
                <a16:creationId xmlns:a16="http://schemas.microsoft.com/office/drawing/2014/main" id="{2C1BB0D3-0BB6-D485-204C-0AF213D51688}"/>
              </a:ext>
            </a:extLst>
          </p:cNvPr>
          <p:cNvSpPr>
            <a:spLocks noGrp="1"/>
          </p:cNvSpPr>
          <p:nvPr>
            <p:ph type="sldNum" sz="quarter" idx="12"/>
          </p:nvPr>
        </p:nvSpPr>
        <p:spPr/>
        <p:txBody>
          <a:bodyPr/>
          <a:lstStyle/>
          <a:p>
            <a:fld id="{5D84065D-F351-4B03-BD91-D8A6B8D4B362}" type="slidenum">
              <a:rPr lang="en-US" smtClean="0"/>
              <a:t>7</a:t>
            </a:fld>
            <a:endParaRPr lang="en-US" dirty="0"/>
          </a:p>
        </p:txBody>
      </p:sp>
      <p:sp>
        <p:nvSpPr>
          <p:cNvPr id="5" name="Date Placeholder 4">
            <a:extLst>
              <a:ext uri="{FF2B5EF4-FFF2-40B4-BE49-F238E27FC236}">
                <a16:creationId xmlns:a16="http://schemas.microsoft.com/office/drawing/2014/main" id="{95F312D5-0C58-A75A-DEAF-ABA7AF04BA27}"/>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2392171267"/>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p>
        </p:txBody>
      </p:sp>
      <p:sp>
        <p:nvSpPr>
          <p:cNvPr id="4" name="Rectangle 1"/>
          <p:cNvSpPr>
            <a:spLocks noGrp="1" noChangeArrowheads="1"/>
          </p:cNvSpPr>
          <p:nvPr>
            <p:ph idx="1"/>
          </p:nvPr>
        </p:nvSpPr>
        <p:spPr bwMode="auto">
          <a:xfrm>
            <a:off x="1295401" y="2556932"/>
            <a:ext cx="938516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Hollow axles provide better strength-to-weight ratio.</a:t>
            </a: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Alloy steels widely used in automotive applications.</a:t>
            </a: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Analytical methods still important despite FEA tools.</a:t>
            </a: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Stress analysis essential for axle reliability.</a:t>
            </a: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Previous studies support hollow axle advantages. </a:t>
            </a:r>
          </a:p>
        </p:txBody>
      </p:sp>
      <p:sp>
        <p:nvSpPr>
          <p:cNvPr id="3" name="Slide Number Placeholder 2">
            <a:extLst>
              <a:ext uri="{FF2B5EF4-FFF2-40B4-BE49-F238E27FC236}">
                <a16:creationId xmlns:a16="http://schemas.microsoft.com/office/drawing/2014/main" id="{1C26E6EC-1FEF-1B70-5A0F-14C7954D891A}"/>
              </a:ext>
            </a:extLst>
          </p:cNvPr>
          <p:cNvSpPr>
            <a:spLocks noGrp="1"/>
          </p:cNvSpPr>
          <p:nvPr>
            <p:ph type="sldNum" sz="quarter" idx="12"/>
          </p:nvPr>
        </p:nvSpPr>
        <p:spPr/>
        <p:txBody>
          <a:bodyPr/>
          <a:lstStyle/>
          <a:p>
            <a:fld id="{5D84065D-F351-4B03-BD91-D8A6B8D4B362}" type="slidenum">
              <a:rPr lang="en-US" smtClean="0"/>
              <a:t>8</a:t>
            </a:fld>
            <a:endParaRPr lang="en-US" dirty="0"/>
          </a:p>
        </p:txBody>
      </p:sp>
      <p:sp>
        <p:nvSpPr>
          <p:cNvPr id="5" name="Date Placeholder 4">
            <a:extLst>
              <a:ext uri="{FF2B5EF4-FFF2-40B4-BE49-F238E27FC236}">
                <a16:creationId xmlns:a16="http://schemas.microsoft.com/office/drawing/2014/main" id="{B7940186-31B0-95EE-645A-0BBB258B27B8}"/>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255649710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Dead Axle Overview</a:t>
            </a:r>
          </a:p>
        </p:txBody>
      </p:sp>
      <p:sp>
        <p:nvSpPr>
          <p:cNvPr id="3" name="Content Placeholder 2"/>
          <p:cNvSpPr>
            <a:spLocks noGrp="1"/>
          </p:cNvSpPr>
          <p:nvPr>
            <p:ph idx="1"/>
          </p:nvPr>
        </p:nvSpPr>
        <p:spPr/>
        <p:txBody>
          <a:bodyPr>
            <a:normAutofit fontScale="92500" lnSpcReduction="20000"/>
          </a:bodyPr>
          <a:lstStyle/>
          <a:p>
            <a:pPr marL="0" indent="0">
              <a:buNone/>
            </a:pPr>
            <a:r>
              <a:rPr lang="en-GB" b="1" dirty="0"/>
              <a:t>What is a Dead Axle?</a:t>
            </a:r>
          </a:p>
          <a:p>
            <a:r>
              <a:rPr lang="en-GB" dirty="0"/>
              <a:t>Non-driven axle</a:t>
            </a:r>
          </a:p>
          <a:p>
            <a:r>
              <a:rPr lang="en-GB" dirty="0"/>
              <a:t>Does not receive power from engine</a:t>
            </a:r>
          </a:p>
          <a:p>
            <a:r>
              <a:rPr lang="en-GB" dirty="0"/>
              <a:t>Primarily supports vehicle weight</a:t>
            </a:r>
          </a:p>
          <a:p>
            <a:r>
              <a:rPr lang="en-GB" dirty="0"/>
              <a:t>Commonly used in trucks and trailers</a:t>
            </a:r>
          </a:p>
          <a:p>
            <a:pPr marL="0" indent="0">
              <a:buNone/>
            </a:pPr>
            <a:r>
              <a:rPr lang="en-GB" b="1" dirty="0"/>
              <a:t>Main Purpose</a:t>
            </a:r>
          </a:p>
          <a:p>
            <a:r>
              <a:rPr lang="en-GB" dirty="0"/>
              <a:t>Improve load carrying capacity</a:t>
            </a:r>
          </a:p>
          <a:p>
            <a:r>
              <a:rPr lang="en-GB" dirty="0"/>
              <a:t>Increase vehicle stability</a:t>
            </a:r>
          </a:p>
        </p:txBody>
      </p:sp>
      <p:sp>
        <p:nvSpPr>
          <p:cNvPr id="4" name="Slide Number Placeholder 3">
            <a:extLst>
              <a:ext uri="{FF2B5EF4-FFF2-40B4-BE49-F238E27FC236}">
                <a16:creationId xmlns:a16="http://schemas.microsoft.com/office/drawing/2014/main" id="{22717B4E-C405-FE3E-611F-1CAA7BF013D5}"/>
              </a:ext>
            </a:extLst>
          </p:cNvPr>
          <p:cNvSpPr>
            <a:spLocks noGrp="1"/>
          </p:cNvSpPr>
          <p:nvPr>
            <p:ph type="sldNum" sz="quarter" idx="12"/>
          </p:nvPr>
        </p:nvSpPr>
        <p:spPr/>
        <p:txBody>
          <a:bodyPr/>
          <a:lstStyle/>
          <a:p>
            <a:fld id="{5D84065D-F351-4B03-BD91-D8A6B8D4B362}" type="slidenum">
              <a:rPr lang="en-US" smtClean="0"/>
              <a:t>9</a:t>
            </a:fld>
            <a:endParaRPr lang="en-US" dirty="0"/>
          </a:p>
        </p:txBody>
      </p:sp>
      <p:sp>
        <p:nvSpPr>
          <p:cNvPr id="5" name="Date Placeholder 4">
            <a:extLst>
              <a:ext uri="{FF2B5EF4-FFF2-40B4-BE49-F238E27FC236}">
                <a16:creationId xmlns:a16="http://schemas.microsoft.com/office/drawing/2014/main" id="{4BFB5509-B2C8-4B2B-0366-B0AF1AAB7FA4}"/>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29107366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Live Axle Vs Dead Axle</a:t>
            </a:r>
          </a:p>
        </p:txBody>
      </p:sp>
      <p:sp>
        <p:nvSpPr>
          <p:cNvPr id="3" name="Text Placeholder 2"/>
          <p:cNvSpPr>
            <a:spLocks noGrp="1"/>
          </p:cNvSpPr>
          <p:nvPr>
            <p:ph type="body" idx="1"/>
          </p:nvPr>
        </p:nvSpPr>
        <p:spPr/>
        <p:txBody>
          <a:bodyPr/>
          <a:lstStyle/>
          <a:p>
            <a:r>
              <a:rPr lang="en-GB" dirty="0">
                <a:solidFill>
                  <a:schemeClr val="tx1"/>
                </a:solidFill>
              </a:rPr>
              <a:t>Live Axle</a:t>
            </a:r>
          </a:p>
        </p:txBody>
      </p:sp>
      <p:sp>
        <p:nvSpPr>
          <p:cNvPr id="4" name="Content Placeholder 3"/>
          <p:cNvSpPr>
            <a:spLocks noGrp="1"/>
          </p:cNvSpPr>
          <p:nvPr>
            <p:ph sz="half" idx="2"/>
          </p:nvPr>
        </p:nvSpPr>
        <p:spPr/>
        <p:txBody>
          <a:bodyPr/>
          <a:lstStyle/>
          <a:p>
            <a:r>
              <a:rPr lang="en-GB" dirty="0"/>
              <a:t>It transmit powers.</a:t>
            </a:r>
          </a:p>
          <a:p>
            <a:r>
              <a:rPr lang="en-GB" dirty="0"/>
              <a:t>Its main function to drive wheels</a:t>
            </a:r>
          </a:p>
          <a:p>
            <a:r>
              <a:rPr lang="en-GB" dirty="0"/>
              <a:t>It has complex geometry</a:t>
            </a:r>
          </a:p>
          <a:p>
            <a:r>
              <a:rPr lang="en-GB" dirty="0"/>
              <a:t>It has higher Maintenance</a:t>
            </a:r>
          </a:p>
        </p:txBody>
      </p:sp>
      <p:sp>
        <p:nvSpPr>
          <p:cNvPr id="5" name="Text Placeholder 4"/>
          <p:cNvSpPr>
            <a:spLocks noGrp="1"/>
          </p:cNvSpPr>
          <p:nvPr>
            <p:ph type="body" sz="quarter" idx="3"/>
          </p:nvPr>
        </p:nvSpPr>
        <p:spPr/>
        <p:txBody>
          <a:bodyPr/>
          <a:lstStyle/>
          <a:p>
            <a:r>
              <a:rPr lang="en-GB" dirty="0">
                <a:solidFill>
                  <a:schemeClr val="tx1"/>
                </a:solidFill>
              </a:rPr>
              <a:t>Dead Axle</a:t>
            </a:r>
          </a:p>
        </p:txBody>
      </p:sp>
      <p:sp>
        <p:nvSpPr>
          <p:cNvPr id="6" name="Content Placeholder 5"/>
          <p:cNvSpPr>
            <a:spLocks noGrp="1"/>
          </p:cNvSpPr>
          <p:nvPr>
            <p:ph sz="quarter" idx="4"/>
          </p:nvPr>
        </p:nvSpPr>
        <p:spPr/>
        <p:txBody>
          <a:bodyPr/>
          <a:lstStyle/>
          <a:p>
            <a:r>
              <a:rPr lang="en-GB" dirty="0">
                <a:latin typeface="Times New Roman" panose="02020603050405020304" pitchFamily="18" charset="0"/>
                <a:cs typeface="Times New Roman" panose="02020603050405020304" pitchFamily="18" charset="0"/>
              </a:rPr>
              <a:t>It can not transmit power</a:t>
            </a:r>
          </a:p>
          <a:p>
            <a:r>
              <a:rPr lang="en-GB" dirty="0">
                <a:latin typeface="Times New Roman" panose="02020603050405020304" pitchFamily="18" charset="0"/>
                <a:cs typeface="Times New Roman" panose="02020603050405020304" pitchFamily="18" charset="0"/>
              </a:rPr>
              <a:t>Its function is to support load</a:t>
            </a:r>
          </a:p>
          <a:p>
            <a:r>
              <a:rPr lang="en-GB" dirty="0">
                <a:latin typeface="Times New Roman" panose="02020603050405020304" pitchFamily="18" charset="0"/>
                <a:cs typeface="Times New Roman" panose="02020603050405020304" pitchFamily="18" charset="0"/>
              </a:rPr>
              <a:t>It has simple geometry.</a:t>
            </a:r>
          </a:p>
          <a:p>
            <a:r>
              <a:rPr lang="en-GB" dirty="0">
                <a:latin typeface="Times New Roman" panose="02020603050405020304" pitchFamily="18" charset="0"/>
                <a:cs typeface="Times New Roman" panose="02020603050405020304" pitchFamily="18" charset="0"/>
              </a:rPr>
              <a:t>It has lower maintenance</a:t>
            </a:r>
          </a:p>
          <a:p>
            <a:endParaRPr lang="en-GB" dirty="0"/>
          </a:p>
        </p:txBody>
      </p:sp>
      <p:sp>
        <p:nvSpPr>
          <p:cNvPr id="7" name="Slide Number Placeholder 6">
            <a:extLst>
              <a:ext uri="{FF2B5EF4-FFF2-40B4-BE49-F238E27FC236}">
                <a16:creationId xmlns:a16="http://schemas.microsoft.com/office/drawing/2014/main" id="{5BEFFB5B-84A5-1042-3D25-4CE67F2EAAD3}"/>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
        <p:nvSpPr>
          <p:cNvPr id="8" name="Date Placeholder 7">
            <a:extLst>
              <a:ext uri="{FF2B5EF4-FFF2-40B4-BE49-F238E27FC236}">
                <a16:creationId xmlns:a16="http://schemas.microsoft.com/office/drawing/2014/main" id="{A8791D17-AB37-4DEA-D715-74D8AD1E0583}"/>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373771635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Hyundai H-100 Overview</a:t>
            </a:r>
          </a:p>
        </p:txBody>
      </p:sp>
      <p:sp>
        <p:nvSpPr>
          <p:cNvPr id="4" name="Rectangle 1"/>
          <p:cNvSpPr>
            <a:spLocks noGrp="1" noChangeArrowheads="1"/>
          </p:cNvSpPr>
          <p:nvPr>
            <p:ph idx="1"/>
          </p:nvPr>
        </p:nvSpPr>
        <p:spPr bwMode="auto">
          <a:xfrm>
            <a:off x="1295400" y="2556931"/>
            <a:ext cx="545419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defTabSz="914400" eaLnBrk="0" fontAlgn="base" hangingPunct="0">
              <a:spcBef>
                <a:spcPct val="0"/>
              </a:spcBef>
              <a:spcAft>
                <a:spcPct val="0"/>
              </a:spcAft>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Light commercial vehicle</a:t>
            </a:r>
          </a:p>
          <a:p>
            <a:pPr defTabSz="914400" eaLnBrk="0" fontAlgn="base" hangingPunct="0">
              <a:spcBef>
                <a:spcPct val="0"/>
              </a:spcBef>
              <a:spcAft>
                <a:spcPct val="0"/>
              </a:spcAft>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Widely used for cargo transportation</a:t>
            </a:r>
          </a:p>
          <a:p>
            <a:pPr defTabSz="914400" eaLnBrk="0" fontAlgn="base" hangingPunct="0">
              <a:spcBef>
                <a:spcPct val="0"/>
              </a:spcBef>
              <a:spcAft>
                <a:spcPct val="0"/>
              </a:spcAft>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Known for durability</a:t>
            </a:r>
          </a:p>
          <a:p>
            <a:pPr defTabSz="914400" eaLnBrk="0" fontAlgn="base" hangingPunct="0">
              <a:spcBef>
                <a:spcPct val="0"/>
              </a:spcBef>
              <a:spcAft>
                <a:spcPct val="0"/>
              </a:spcAft>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Moderate payload capacity</a:t>
            </a:r>
          </a:p>
          <a:p>
            <a:pPr defTabSz="914400" eaLnBrk="0" fontAlgn="base" hangingPunct="0">
              <a:spcBef>
                <a:spcPct val="0"/>
              </a:spcBef>
              <a:spcAft>
                <a:spcPct val="0"/>
              </a:spcAft>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Suitable for commercial applications </a:t>
            </a:r>
          </a:p>
        </p:txBody>
      </p:sp>
      <p:sp>
        <p:nvSpPr>
          <p:cNvPr id="3" name="Slide Number Placeholder 2">
            <a:extLst>
              <a:ext uri="{FF2B5EF4-FFF2-40B4-BE49-F238E27FC236}">
                <a16:creationId xmlns:a16="http://schemas.microsoft.com/office/drawing/2014/main" id="{8C31CA79-7C82-6319-ABCC-1174FC6C38ED}"/>
              </a:ext>
            </a:extLst>
          </p:cNvPr>
          <p:cNvSpPr>
            <a:spLocks noGrp="1"/>
          </p:cNvSpPr>
          <p:nvPr>
            <p:ph type="sldNum" sz="quarter" idx="12"/>
          </p:nvPr>
        </p:nvSpPr>
        <p:spPr/>
        <p:txBody>
          <a:bodyPr/>
          <a:lstStyle/>
          <a:p>
            <a:fld id="{5D84065D-F351-4B03-BD91-D8A6B8D4B362}" type="slidenum">
              <a:rPr lang="en-US" smtClean="0"/>
              <a:t>11</a:t>
            </a:fld>
            <a:endParaRPr lang="en-US" dirty="0"/>
          </a:p>
        </p:txBody>
      </p:sp>
      <p:sp>
        <p:nvSpPr>
          <p:cNvPr id="5" name="Date Placeholder 4">
            <a:extLst>
              <a:ext uri="{FF2B5EF4-FFF2-40B4-BE49-F238E27FC236}">
                <a16:creationId xmlns:a16="http://schemas.microsoft.com/office/drawing/2014/main" id="{76090C31-07E5-5170-1A90-9AC85B6C5068}"/>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65199236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866828"/>
            <a:ext cx="9601196" cy="1133107"/>
          </a:xfrm>
        </p:spPr>
        <p:txBody>
          <a:bodyPr/>
          <a:lstStyle/>
          <a:p>
            <a:r>
              <a:rPr lang="en-GB" dirty="0"/>
              <a:t>Design Methodology</a:t>
            </a:r>
          </a:p>
        </p:txBody>
      </p:sp>
      <p:sp>
        <p:nvSpPr>
          <p:cNvPr id="4" name="Rectangle 1"/>
          <p:cNvSpPr>
            <a:spLocks noGrp="1" noChangeArrowheads="1"/>
          </p:cNvSpPr>
          <p:nvPr>
            <p:ph idx="1"/>
          </p:nvPr>
        </p:nvSpPr>
        <p:spPr bwMode="auto">
          <a:xfrm>
            <a:off x="1295402" y="2115239"/>
            <a:ext cx="9490112" cy="3875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a:spcAft>
                <a:spcPts val="1000"/>
              </a:spcAft>
              <a:defRPr sz="1800">
                <a:solidFill>
                  <a:srgbClr val="333333"/>
                </a:solidFill>
              </a:defRPr>
            </a:pPr>
            <a:r>
              <a:rPr lang="en-US" sz="1600" dirty="0"/>
              <a:t>Determine loading conditions based on vehicle specifications</a:t>
            </a:r>
          </a:p>
          <a:p>
            <a:pPr>
              <a:spcAft>
                <a:spcPts val="1000"/>
              </a:spcAft>
              <a:defRPr sz="1800">
                <a:solidFill>
                  <a:srgbClr val="333333"/>
                </a:solidFill>
              </a:defRPr>
            </a:pPr>
            <a:r>
              <a:rPr lang="en-US" sz="1600" dirty="0"/>
              <a:t>Calculate support reactions at wheel mounting locations</a:t>
            </a:r>
          </a:p>
          <a:p>
            <a:pPr>
              <a:spcAft>
                <a:spcPts val="1000"/>
              </a:spcAft>
              <a:defRPr sz="1800">
                <a:solidFill>
                  <a:srgbClr val="333333"/>
                </a:solidFill>
              </a:defRPr>
            </a:pPr>
            <a:r>
              <a:rPr lang="en-US" sz="1600" dirty="0"/>
              <a:t>Perform shear force analysis along the axle length</a:t>
            </a:r>
          </a:p>
          <a:p>
            <a:pPr>
              <a:spcAft>
                <a:spcPts val="1000"/>
              </a:spcAft>
              <a:defRPr sz="1800">
                <a:solidFill>
                  <a:srgbClr val="333333"/>
                </a:solidFill>
              </a:defRPr>
            </a:pPr>
            <a:r>
              <a:rPr lang="en-US" sz="1600" dirty="0"/>
              <a:t>Perform bending moment analysis to find critical sections</a:t>
            </a:r>
          </a:p>
          <a:p>
            <a:pPr>
              <a:spcAft>
                <a:spcPts val="1000"/>
              </a:spcAft>
              <a:defRPr sz="1800">
                <a:solidFill>
                  <a:srgbClr val="333333"/>
                </a:solidFill>
              </a:defRPr>
            </a:pPr>
            <a:r>
              <a:rPr lang="en-US" sz="1600" dirty="0"/>
              <a:t>Select suitable material based on mechanical properties</a:t>
            </a:r>
          </a:p>
          <a:p>
            <a:pPr>
              <a:spcAft>
                <a:spcPts val="1000"/>
              </a:spcAft>
              <a:defRPr sz="1800">
                <a:solidFill>
                  <a:srgbClr val="333333"/>
                </a:solidFill>
              </a:defRPr>
            </a:pPr>
            <a:r>
              <a:rPr lang="en-US" sz="1600" dirty="0"/>
              <a:t>Design axle geometry (solid vs hollow cross-section)</a:t>
            </a:r>
          </a:p>
          <a:p>
            <a:pPr>
              <a:spcAft>
                <a:spcPts val="1000"/>
              </a:spcAft>
              <a:defRPr sz="1800">
                <a:solidFill>
                  <a:srgbClr val="333333"/>
                </a:solidFill>
              </a:defRPr>
            </a:pPr>
            <a:r>
              <a:rPr lang="en-US" sz="1600" dirty="0"/>
              <a:t>Calculate bending stress, shear stress, and principal stresses</a:t>
            </a:r>
          </a:p>
          <a:p>
            <a:pPr>
              <a:spcAft>
                <a:spcPts val="1000"/>
              </a:spcAft>
              <a:defRPr sz="1800">
                <a:solidFill>
                  <a:srgbClr val="333333"/>
                </a:solidFill>
              </a:defRPr>
            </a:pPr>
            <a:r>
              <a:rPr lang="en-US" sz="1600" dirty="0"/>
              <a:t>Optimize geometry and material for minimum weight</a:t>
            </a:r>
          </a:p>
          <a:p>
            <a:pPr>
              <a:spcAft>
                <a:spcPts val="1000"/>
              </a:spcAft>
              <a:defRPr sz="1800">
                <a:solidFill>
                  <a:srgbClr val="333333"/>
                </a:solidFill>
              </a:defRPr>
            </a:pPr>
            <a:r>
              <a:rPr lang="en-US" sz="1600" dirty="0"/>
              <a:t>Verify factor of safety for reliable operation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944DC58E-0315-C202-137F-694407121CC9}"/>
              </a:ext>
            </a:extLst>
          </p:cNvPr>
          <p:cNvSpPr>
            <a:spLocks noGrp="1"/>
          </p:cNvSpPr>
          <p:nvPr>
            <p:ph type="sldNum" sz="quarter" idx="12"/>
          </p:nvPr>
        </p:nvSpPr>
        <p:spPr/>
        <p:txBody>
          <a:bodyPr/>
          <a:lstStyle/>
          <a:p>
            <a:fld id="{5D84065D-F351-4B03-BD91-D8A6B8D4B362}" type="slidenum">
              <a:rPr lang="en-US" smtClean="0"/>
              <a:t>12</a:t>
            </a:fld>
            <a:endParaRPr lang="en-US" dirty="0"/>
          </a:p>
        </p:txBody>
      </p:sp>
      <p:sp>
        <p:nvSpPr>
          <p:cNvPr id="5" name="Date Placeholder 4">
            <a:extLst>
              <a:ext uri="{FF2B5EF4-FFF2-40B4-BE49-F238E27FC236}">
                <a16:creationId xmlns:a16="http://schemas.microsoft.com/office/drawing/2014/main" id="{A8CEFD18-2475-1664-7647-0B961710767C}"/>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29601389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additive="base">
                                        <p:cTn id="3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anim calcmode="lin" valueType="num">
                                      <p:cBhvr additive="base">
                                        <p:cTn id="4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anim calcmode="lin" valueType="num">
                                      <p:cBhvr additive="base">
                                        <p:cTn id="4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anim calcmode="lin" valueType="num">
                                      <p:cBhvr additive="base">
                                        <p:cTn id="53"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4">
                                            <p:txEl>
                                              <p:pRg st="8" end="8"/>
                                            </p:txEl>
                                          </p:spTgt>
                                        </p:tgtEl>
                                        <p:attrNameLst>
                                          <p:attrName>style.visibility</p:attrName>
                                        </p:attrNameLst>
                                      </p:cBhvr>
                                      <p:to>
                                        <p:strVal val="visible"/>
                                      </p:to>
                                    </p:set>
                                    <p:anim calcmode="lin" valueType="num">
                                      <p:cBhvr additive="base">
                                        <p:cTn id="59"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Design Assumption</a:t>
            </a:r>
          </a:p>
        </p:txBody>
      </p:sp>
      <p:sp>
        <p:nvSpPr>
          <p:cNvPr id="3" name="Content Placeholder 2"/>
          <p:cNvSpPr>
            <a:spLocks noGrp="1"/>
          </p:cNvSpPr>
          <p:nvPr>
            <p:ph idx="1"/>
          </p:nvPr>
        </p:nvSpPr>
        <p:spPr>
          <a:xfrm>
            <a:off x="1295401" y="2379643"/>
            <a:ext cx="9601196" cy="3646583"/>
          </a:xfrm>
        </p:spPr>
        <p:txBody>
          <a:bodyPr>
            <a:normAutofit/>
          </a:bodyPr>
          <a:lstStyle/>
          <a:p>
            <a:pPr>
              <a:spcAft>
                <a:spcPts val="1000"/>
              </a:spcAft>
              <a:defRPr sz="1800">
                <a:solidFill>
                  <a:srgbClr val="333333"/>
                </a:solidFill>
              </a:defRPr>
            </a:pPr>
            <a:r>
              <a:rPr lang="en-US" dirty="0"/>
              <a:t>The axle is modelled as a simply supported beam at wheel mounting locations</a:t>
            </a:r>
          </a:p>
          <a:p>
            <a:pPr>
              <a:spcAft>
                <a:spcPts val="1000"/>
              </a:spcAft>
              <a:defRPr sz="1800">
                <a:solidFill>
                  <a:srgbClr val="333333"/>
                </a:solidFill>
              </a:defRPr>
            </a:pPr>
            <a:r>
              <a:rPr lang="en-US" dirty="0"/>
              <a:t>Load is applied as point load 0.3 m away from the wheels</a:t>
            </a:r>
          </a:p>
          <a:p>
            <a:pPr>
              <a:spcAft>
                <a:spcPts val="1000"/>
              </a:spcAft>
              <a:defRPr sz="1800">
                <a:solidFill>
                  <a:srgbClr val="333333"/>
                </a:solidFill>
              </a:defRPr>
            </a:pPr>
            <a:r>
              <a:rPr lang="en-US" dirty="0"/>
              <a:t>Static loading conditions are considered for preliminary design</a:t>
            </a:r>
          </a:p>
          <a:p>
            <a:pPr>
              <a:spcAft>
                <a:spcPts val="1000"/>
              </a:spcAft>
              <a:defRPr sz="1800">
                <a:solidFill>
                  <a:srgbClr val="333333"/>
                </a:solidFill>
              </a:defRPr>
            </a:pPr>
            <a:r>
              <a:rPr lang="en-US" dirty="0"/>
              <a:t>Shock and impact factor of 1.5 is included in calculations</a:t>
            </a:r>
          </a:p>
          <a:p>
            <a:pPr>
              <a:spcAft>
                <a:spcPts val="1000"/>
              </a:spcAft>
              <a:defRPr sz="1800">
                <a:solidFill>
                  <a:srgbClr val="333333"/>
                </a:solidFill>
              </a:defRPr>
            </a:pPr>
            <a:r>
              <a:rPr lang="en-US" dirty="0"/>
              <a:t>The axle behaves as a linear elastic material (Hooke's Law valid)</a:t>
            </a:r>
          </a:p>
          <a:p>
            <a:pPr>
              <a:spcAft>
                <a:spcPts val="1000"/>
              </a:spcAft>
              <a:defRPr sz="1800">
                <a:solidFill>
                  <a:srgbClr val="333333"/>
                </a:solidFill>
              </a:defRPr>
            </a:pPr>
            <a:r>
              <a:rPr lang="en-US" dirty="0"/>
              <a:t>Symmetrical loading is assumed for simplified analysis</a:t>
            </a:r>
          </a:p>
          <a:p>
            <a:pPr>
              <a:spcAft>
                <a:spcPts val="1000"/>
              </a:spcAft>
              <a:defRPr sz="1800">
                <a:solidFill>
                  <a:srgbClr val="333333"/>
                </a:solidFill>
              </a:defRPr>
            </a:pPr>
            <a:r>
              <a:rPr lang="en-US" dirty="0"/>
              <a:t>Stress concentration effects are neglected</a:t>
            </a:r>
          </a:p>
          <a:p>
            <a:pPr>
              <a:spcAft>
                <a:spcPts val="1000"/>
              </a:spcAft>
              <a:defRPr sz="1800">
                <a:solidFill>
                  <a:srgbClr val="333333"/>
                </a:solidFill>
              </a:defRPr>
            </a:pPr>
            <a:r>
              <a:rPr lang="en-US" dirty="0"/>
              <a:t>Temperature effects are not considered in this analysis</a:t>
            </a:r>
          </a:p>
        </p:txBody>
      </p:sp>
      <p:sp>
        <p:nvSpPr>
          <p:cNvPr id="4" name="Slide Number Placeholder 3">
            <a:extLst>
              <a:ext uri="{FF2B5EF4-FFF2-40B4-BE49-F238E27FC236}">
                <a16:creationId xmlns:a16="http://schemas.microsoft.com/office/drawing/2014/main" id="{5C4EFDB2-EB6B-503A-6435-42D5AC1E2E7A}"/>
              </a:ext>
            </a:extLst>
          </p:cNvPr>
          <p:cNvSpPr>
            <a:spLocks noGrp="1"/>
          </p:cNvSpPr>
          <p:nvPr>
            <p:ph type="sldNum" sz="quarter" idx="12"/>
          </p:nvPr>
        </p:nvSpPr>
        <p:spPr/>
        <p:txBody>
          <a:bodyPr/>
          <a:lstStyle/>
          <a:p>
            <a:fld id="{5D84065D-F351-4B03-BD91-D8A6B8D4B362}" type="slidenum">
              <a:rPr lang="en-US" smtClean="0"/>
              <a:t>13</a:t>
            </a:fld>
            <a:endParaRPr lang="en-US" dirty="0"/>
          </a:p>
        </p:txBody>
      </p:sp>
      <p:sp>
        <p:nvSpPr>
          <p:cNvPr id="5" name="Date Placeholder 4">
            <a:extLst>
              <a:ext uri="{FF2B5EF4-FFF2-40B4-BE49-F238E27FC236}">
                <a16:creationId xmlns:a16="http://schemas.microsoft.com/office/drawing/2014/main" id="{53FFDDC3-B829-80F4-A84B-90F2024221C9}"/>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2065930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 calcmode="lin" valueType="num">
                                      <p:cBhvr additive="base">
                                        <p:cTn id="4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 calcmode="lin" valueType="num">
                                      <p:cBhvr additive="base">
                                        <p:cTn id="4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anim calcmode="lin" valueType="num">
                                      <p:cBhvr additive="base">
                                        <p:cTn id="5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2"/>
            <a:ext cx="9601196" cy="1210225"/>
          </a:xfrm>
        </p:spPr>
        <p:txBody>
          <a:bodyPr/>
          <a:lstStyle/>
          <a:p>
            <a:r>
              <a:rPr lang="en-GB" dirty="0"/>
              <a:t>Load Calculations</a:t>
            </a:r>
          </a:p>
        </p:txBody>
      </p:sp>
      <p:sp>
        <p:nvSpPr>
          <p:cNvPr id="3" name="Content Placeholder 2"/>
          <p:cNvSpPr>
            <a:spLocks noGrp="1"/>
          </p:cNvSpPr>
          <p:nvPr>
            <p:ph idx="1"/>
          </p:nvPr>
        </p:nvSpPr>
        <p:spPr>
          <a:xfrm>
            <a:off x="1295401" y="2412694"/>
            <a:ext cx="10151124" cy="3463174"/>
          </a:xfrm>
        </p:spPr>
        <p:txBody>
          <a:bodyPr>
            <a:normAutofit fontScale="92500"/>
          </a:bodyPr>
          <a:lstStyle/>
          <a:p>
            <a:r>
              <a:rPr lang="en-GB" dirty="0"/>
              <a:t>The formula is     W = mg</a:t>
            </a:r>
          </a:p>
          <a:p>
            <a:r>
              <a:rPr lang="en-GB" dirty="0"/>
              <a:t>Where   w  is weight</a:t>
            </a:r>
          </a:p>
          <a:p>
            <a:r>
              <a:rPr lang="en-GB" dirty="0"/>
              <a:t>M is mass </a:t>
            </a:r>
          </a:p>
          <a:p>
            <a:r>
              <a:rPr lang="en-GB" dirty="0"/>
              <a:t>G is gravitational acceleration.</a:t>
            </a:r>
          </a:p>
          <a:p>
            <a:r>
              <a:rPr lang="en-US" dirty="0"/>
              <a:t>Main Loads Acting on Axle (65% on dead axle)</a:t>
            </a:r>
          </a:p>
          <a:p>
            <a:r>
              <a:rPr lang="en-GB" dirty="0" err="1"/>
              <a:t>W</a:t>
            </a:r>
            <a:r>
              <a:rPr lang="en-GB" baseline="-25000" dirty="0" err="1"/>
              <a:t>d</a:t>
            </a:r>
            <a:r>
              <a:rPr lang="en-GB" dirty="0"/>
              <a:t> = 0.65 x 1500 x 9.81 =  9564.75 N</a:t>
            </a:r>
          </a:p>
          <a:p>
            <a:r>
              <a:rPr lang="en-GB" dirty="0"/>
              <a:t>Load on Point C and Point D are equally distributed that is </a:t>
            </a:r>
            <a:r>
              <a:rPr lang="en-GB" dirty="0" err="1"/>
              <a:t>W</a:t>
            </a:r>
            <a:r>
              <a:rPr lang="en-GB" baseline="-25000" dirty="0" err="1"/>
              <a:t>d</a:t>
            </a:r>
            <a:r>
              <a:rPr lang="en-GB" dirty="0"/>
              <a:t> /2 = 4782.375 N each</a:t>
            </a:r>
          </a:p>
        </p:txBody>
      </p:sp>
      <p:sp>
        <p:nvSpPr>
          <p:cNvPr id="5"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7" name="Rectangle 4"/>
          <p:cNvSpPr>
            <a:spLocks noChangeArrowheads="1"/>
          </p:cNvSpPr>
          <p:nvPr/>
        </p:nvSpPr>
        <p:spPr bwMode="auto">
          <a:xfrm>
            <a:off x="0" y="158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C3DF589A-91CF-5B07-8AB0-897877910C9D}"/>
              </a:ext>
            </a:extLst>
          </p:cNvPr>
          <p:cNvSpPr>
            <a:spLocks noGrp="1"/>
          </p:cNvSpPr>
          <p:nvPr>
            <p:ph type="sldNum" sz="quarter" idx="12"/>
          </p:nvPr>
        </p:nvSpPr>
        <p:spPr/>
        <p:txBody>
          <a:bodyPr/>
          <a:lstStyle/>
          <a:p>
            <a:fld id="{5D84065D-F351-4B03-BD91-D8A6B8D4B362}" type="slidenum">
              <a:rPr lang="en-US" smtClean="0"/>
              <a:t>14</a:t>
            </a:fld>
            <a:endParaRPr lang="en-US" dirty="0"/>
          </a:p>
        </p:txBody>
      </p:sp>
      <p:sp>
        <p:nvSpPr>
          <p:cNvPr id="8" name="Date Placeholder 7">
            <a:extLst>
              <a:ext uri="{FF2B5EF4-FFF2-40B4-BE49-F238E27FC236}">
                <a16:creationId xmlns:a16="http://schemas.microsoft.com/office/drawing/2014/main" id="{72801F34-7444-DC25-D3D4-0C6A657C446A}"/>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1611184786"/>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Support Reactions</a:t>
            </a:r>
          </a:p>
        </p:txBody>
      </p:sp>
      <p:sp>
        <p:nvSpPr>
          <p:cNvPr id="3" name="Content Placeholder 2"/>
          <p:cNvSpPr>
            <a:spLocks noGrp="1"/>
          </p:cNvSpPr>
          <p:nvPr>
            <p:ph idx="1"/>
          </p:nvPr>
        </p:nvSpPr>
        <p:spPr/>
        <p:txBody>
          <a:bodyPr/>
          <a:lstStyle/>
          <a:p>
            <a:r>
              <a:rPr lang="en-GB" dirty="0"/>
              <a:t>For symmetrical loading conditions:</a:t>
            </a:r>
          </a:p>
          <a:p>
            <a:r>
              <a:rPr lang="en-GB" dirty="0"/>
              <a:t>R</a:t>
            </a:r>
            <a:r>
              <a:rPr lang="en-GB" baseline="-25000" dirty="0"/>
              <a:t>A</a:t>
            </a:r>
            <a:r>
              <a:rPr lang="en-GB" dirty="0"/>
              <a:t>= R</a:t>
            </a:r>
            <a:r>
              <a:rPr lang="en-GB" baseline="-25000" dirty="0"/>
              <a:t>B</a:t>
            </a:r>
            <a:r>
              <a:rPr lang="en-GB" dirty="0"/>
              <a:t> = </a:t>
            </a:r>
            <a:r>
              <a:rPr lang="en-GB" dirty="0" err="1"/>
              <a:t>W</a:t>
            </a:r>
            <a:r>
              <a:rPr lang="en-GB" baseline="-25000" dirty="0" err="1"/>
              <a:t>d</a:t>
            </a:r>
            <a:r>
              <a:rPr lang="en-GB" dirty="0"/>
              <a:t> /2</a:t>
            </a:r>
          </a:p>
          <a:p>
            <a:r>
              <a:rPr lang="en-GB" dirty="0"/>
              <a:t>Where:</a:t>
            </a:r>
          </a:p>
          <a:p>
            <a:pPr lvl="0"/>
            <a:r>
              <a:rPr lang="en-GB" dirty="0"/>
              <a:t>R</a:t>
            </a:r>
            <a:r>
              <a:rPr lang="en-GB" baseline="-25000" dirty="0"/>
              <a:t>A</a:t>
            </a:r>
            <a:r>
              <a:rPr lang="en-GB" dirty="0"/>
              <a:t> and R</a:t>
            </a:r>
            <a:r>
              <a:rPr lang="en-GB" baseline="-25000" dirty="0"/>
              <a:t>B</a:t>
            </a:r>
            <a:r>
              <a:rPr lang="en-GB" dirty="0"/>
              <a:t>= Reactions at supports</a:t>
            </a:r>
          </a:p>
          <a:p>
            <a:pPr lvl="0"/>
            <a:r>
              <a:rPr lang="en-GB" dirty="0" err="1"/>
              <a:t>W</a:t>
            </a:r>
            <a:r>
              <a:rPr lang="en-GB" baseline="-25000" dirty="0" err="1"/>
              <a:t>d</a:t>
            </a:r>
            <a:r>
              <a:rPr lang="en-GB" dirty="0"/>
              <a:t> = Dynamic load acting on axle</a:t>
            </a:r>
          </a:p>
        </p:txBody>
      </p:sp>
      <p:sp>
        <p:nvSpPr>
          <p:cNvPr id="5" name="Rectangle 4">
            <a:extLst>
              <a:ext uri="{FF2B5EF4-FFF2-40B4-BE49-F238E27FC236}">
                <a16:creationId xmlns:a16="http://schemas.microsoft.com/office/drawing/2014/main" id="{B8CF0A94-2275-8A91-0E8A-4AFD40C3DA31}"/>
              </a:ext>
            </a:extLst>
          </p:cNvPr>
          <p:cNvSpPr/>
          <p:nvPr/>
        </p:nvSpPr>
        <p:spPr>
          <a:xfrm>
            <a:off x="6279613" y="3429000"/>
            <a:ext cx="4957591" cy="53707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Arrow: Down 8">
            <a:extLst>
              <a:ext uri="{FF2B5EF4-FFF2-40B4-BE49-F238E27FC236}">
                <a16:creationId xmlns:a16="http://schemas.microsoft.com/office/drawing/2014/main" id="{243F84E1-531C-F12F-921F-67D12A73377F}"/>
              </a:ext>
            </a:extLst>
          </p:cNvPr>
          <p:cNvSpPr/>
          <p:nvPr/>
        </p:nvSpPr>
        <p:spPr>
          <a:xfrm>
            <a:off x="6874525" y="2412694"/>
            <a:ext cx="165253" cy="1016306"/>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Down 9">
            <a:extLst>
              <a:ext uri="{FF2B5EF4-FFF2-40B4-BE49-F238E27FC236}">
                <a16:creationId xmlns:a16="http://schemas.microsoft.com/office/drawing/2014/main" id="{967AD17C-19B7-79DB-0311-2876315C0F3A}"/>
              </a:ext>
            </a:extLst>
          </p:cNvPr>
          <p:cNvSpPr/>
          <p:nvPr/>
        </p:nvSpPr>
        <p:spPr>
          <a:xfrm>
            <a:off x="10320968" y="2430237"/>
            <a:ext cx="165253" cy="1016306"/>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Down 10">
            <a:extLst>
              <a:ext uri="{FF2B5EF4-FFF2-40B4-BE49-F238E27FC236}">
                <a16:creationId xmlns:a16="http://schemas.microsoft.com/office/drawing/2014/main" id="{70316B75-1CAF-4B7A-93DE-E68FCAB817A3}"/>
              </a:ext>
            </a:extLst>
          </p:cNvPr>
          <p:cNvSpPr/>
          <p:nvPr/>
        </p:nvSpPr>
        <p:spPr>
          <a:xfrm rot="10800000">
            <a:off x="6279613" y="4011517"/>
            <a:ext cx="165253" cy="1016306"/>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A252FECE-F69C-AC96-F078-1EB9B8FC3AC8}"/>
              </a:ext>
            </a:extLst>
          </p:cNvPr>
          <p:cNvSpPr/>
          <p:nvPr/>
        </p:nvSpPr>
        <p:spPr>
          <a:xfrm rot="10800000">
            <a:off x="11071951" y="3966072"/>
            <a:ext cx="165253" cy="1016306"/>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51D3EF38-0D43-182D-9560-4DC64A50BC18}"/>
              </a:ext>
            </a:extLst>
          </p:cNvPr>
          <p:cNvSpPr>
            <a:spLocks noGrp="1"/>
          </p:cNvSpPr>
          <p:nvPr>
            <p:ph type="sldNum" sz="quarter" idx="12"/>
          </p:nvPr>
        </p:nvSpPr>
        <p:spPr/>
        <p:txBody>
          <a:bodyPr/>
          <a:lstStyle/>
          <a:p>
            <a:fld id="{5D84065D-F351-4B03-BD91-D8A6B8D4B362}" type="slidenum">
              <a:rPr lang="en-US" smtClean="0"/>
              <a:t>15</a:t>
            </a:fld>
            <a:endParaRPr lang="en-US" dirty="0"/>
          </a:p>
        </p:txBody>
      </p:sp>
      <p:sp>
        <p:nvSpPr>
          <p:cNvPr id="6" name="Date Placeholder 5">
            <a:extLst>
              <a:ext uri="{FF2B5EF4-FFF2-40B4-BE49-F238E27FC236}">
                <a16:creationId xmlns:a16="http://schemas.microsoft.com/office/drawing/2014/main" id="{6E196D1B-799F-D352-7855-9732F0F725E4}"/>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13771367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ppt_x"/>
                                          </p:val>
                                        </p:tav>
                                        <p:tav tm="100000">
                                          <p:val>
                                            <p:strVal val="#ppt_x"/>
                                          </p:val>
                                        </p:tav>
                                      </p:tavLst>
                                    </p:anim>
                                    <p:anim calcmode="lin" valueType="num">
                                      <p:cBhvr additive="base">
                                        <p:cTn id="40" dur="500" fill="hold"/>
                                        <p:tgtEl>
                                          <p:spTgt spid="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ppt_x"/>
                                          </p:val>
                                        </p:tav>
                                        <p:tav tm="100000">
                                          <p:val>
                                            <p:strVal val="#ppt_x"/>
                                          </p:val>
                                        </p:tav>
                                      </p:tavLst>
                                    </p:anim>
                                    <p:anim calcmode="lin" valueType="num">
                                      <p:cBhvr additive="base">
                                        <p:cTn id="48" dur="500" fill="hold"/>
                                        <p:tgtEl>
                                          <p:spTgt spid="1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500" fill="hold"/>
                                        <p:tgtEl>
                                          <p:spTgt spid="11"/>
                                        </p:tgtEl>
                                        <p:attrNameLst>
                                          <p:attrName>ppt_x</p:attrName>
                                        </p:attrNameLst>
                                      </p:cBhvr>
                                      <p:tavLst>
                                        <p:tav tm="0">
                                          <p:val>
                                            <p:strVal val="#ppt_x"/>
                                          </p:val>
                                        </p:tav>
                                        <p:tav tm="100000">
                                          <p:val>
                                            <p:strVal val="#ppt_x"/>
                                          </p:val>
                                        </p:tav>
                                      </p:tavLst>
                                    </p:anim>
                                    <p:anim calcmode="lin" valueType="num">
                                      <p:cBhvr additive="base">
                                        <p:cTn id="52" dur="500" fill="hold"/>
                                        <p:tgtEl>
                                          <p:spTgt spid="11"/>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ppt_x</p:attrName>
                                        </p:attrNameLst>
                                      </p:cBhvr>
                                      <p:tavLst>
                                        <p:tav tm="0">
                                          <p:val>
                                            <p:strVal val="#ppt_x"/>
                                          </p:val>
                                        </p:tav>
                                        <p:tav tm="100000">
                                          <p:val>
                                            <p:strVal val="#ppt_x"/>
                                          </p:val>
                                        </p:tav>
                                      </p:tavLst>
                                    </p:anim>
                                    <p:anim calcmode="lin" valueType="num">
                                      <p:cBhvr additive="base">
                                        <p:cTn id="5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animBg="1"/>
      <p:bldP spid="9" grpId="0" animBg="1"/>
      <p:bldP spid="10" grpId="0" animBg="1"/>
      <p:bldP spid="11"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Shear Force Analysis</a:t>
            </a:r>
          </a:p>
        </p:txBody>
      </p:sp>
      <p:sp>
        <p:nvSpPr>
          <p:cNvPr id="3" name="Content Placeholder 2"/>
          <p:cNvSpPr>
            <a:spLocks noGrp="1"/>
          </p:cNvSpPr>
          <p:nvPr>
            <p:ph idx="1"/>
          </p:nvPr>
        </p:nvSpPr>
        <p:spPr>
          <a:xfrm>
            <a:off x="1295402" y="2456761"/>
            <a:ext cx="4532522" cy="3419107"/>
          </a:xfrm>
        </p:spPr>
        <p:txBody>
          <a:bodyPr>
            <a:normAutofit fontScale="92500" lnSpcReduction="10000"/>
          </a:bodyPr>
          <a:lstStyle/>
          <a:p>
            <a:r>
              <a:rPr lang="en-GB" dirty="0"/>
              <a:t>The maximum shear force occurs near the supports and is equal to the reaction force.</a:t>
            </a:r>
          </a:p>
          <a:p>
            <a:r>
              <a:rPr lang="en-GB" dirty="0"/>
              <a:t>Where:</a:t>
            </a:r>
          </a:p>
          <a:p>
            <a:pPr lvl="0"/>
            <a:r>
              <a:rPr lang="en-GB" dirty="0"/>
              <a:t>V</a:t>
            </a:r>
            <a:r>
              <a:rPr lang="en-GB" baseline="-25000" dirty="0"/>
              <a:t>max</a:t>
            </a:r>
            <a:r>
              <a:rPr lang="en-GB" dirty="0"/>
              <a:t>= Maximum shear force</a:t>
            </a:r>
          </a:p>
          <a:p>
            <a:pPr lvl="0"/>
            <a:r>
              <a:rPr lang="en-GB" dirty="0" err="1"/>
              <a:t>Wd</a:t>
            </a:r>
            <a:r>
              <a:rPr lang="en-GB" dirty="0"/>
              <a:t> = Dynamic load</a:t>
            </a:r>
          </a:p>
          <a:p>
            <a:r>
              <a:rPr lang="en-GB" dirty="0"/>
              <a:t>The bending moment and shear force are the primary parameters used for axle stress analysis.</a:t>
            </a:r>
          </a:p>
        </p:txBody>
      </p:sp>
      <p:pic>
        <p:nvPicPr>
          <p:cNvPr id="7" name="Picture 6">
            <a:extLst>
              <a:ext uri="{FF2B5EF4-FFF2-40B4-BE49-F238E27FC236}">
                <a16:creationId xmlns:a16="http://schemas.microsoft.com/office/drawing/2014/main" id="{AB126B6F-F29A-4504-EFA9-F9BE35F27A3F}"/>
              </a:ext>
            </a:extLst>
          </p:cNvPr>
          <p:cNvPicPr>
            <a:picLocks noChangeAspect="1"/>
          </p:cNvPicPr>
          <p:nvPr/>
        </p:nvPicPr>
        <p:blipFill>
          <a:blip r:embed="rId2"/>
          <a:stretch>
            <a:fillRect/>
          </a:stretch>
        </p:blipFill>
        <p:spPr>
          <a:xfrm>
            <a:off x="5827924" y="2456761"/>
            <a:ext cx="5519449" cy="3419106"/>
          </a:xfrm>
          <a:prstGeom prst="rect">
            <a:avLst/>
          </a:prstGeom>
        </p:spPr>
      </p:pic>
      <p:sp>
        <p:nvSpPr>
          <p:cNvPr id="4" name="Slide Number Placeholder 3">
            <a:extLst>
              <a:ext uri="{FF2B5EF4-FFF2-40B4-BE49-F238E27FC236}">
                <a16:creationId xmlns:a16="http://schemas.microsoft.com/office/drawing/2014/main" id="{CAD5F7A0-6B92-EF07-A4E0-D23322C70D30}"/>
              </a:ext>
            </a:extLst>
          </p:cNvPr>
          <p:cNvSpPr>
            <a:spLocks noGrp="1"/>
          </p:cNvSpPr>
          <p:nvPr>
            <p:ph type="sldNum" sz="quarter" idx="12"/>
          </p:nvPr>
        </p:nvSpPr>
        <p:spPr/>
        <p:txBody>
          <a:bodyPr/>
          <a:lstStyle/>
          <a:p>
            <a:fld id="{5D84065D-F351-4B03-BD91-D8A6B8D4B362}" type="slidenum">
              <a:rPr lang="en-US" smtClean="0"/>
              <a:t>16</a:t>
            </a:fld>
            <a:endParaRPr lang="en-US" dirty="0"/>
          </a:p>
        </p:txBody>
      </p:sp>
      <p:sp>
        <p:nvSpPr>
          <p:cNvPr id="5" name="Date Placeholder 4">
            <a:extLst>
              <a:ext uri="{FF2B5EF4-FFF2-40B4-BE49-F238E27FC236}">
                <a16:creationId xmlns:a16="http://schemas.microsoft.com/office/drawing/2014/main" id="{B671FCA2-0880-8B68-7164-2FB6E691A0DC}"/>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37039900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Bending Moment Analysis</a:t>
            </a:r>
          </a:p>
        </p:txBody>
      </p:sp>
      <p:sp>
        <p:nvSpPr>
          <p:cNvPr id="3" name="Content Placeholder 2"/>
          <p:cNvSpPr>
            <a:spLocks noGrp="1"/>
          </p:cNvSpPr>
          <p:nvPr>
            <p:ph idx="1"/>
          </p:nvPr>
        </p:nvSpPr>
        <p:spPr>
          <a:xfrm>
            <a:off x="1295401" y="2556932"/>
            <a:ext cx="4800599" cy="3318936"/>
          </a:xfrm>
        </p:spPr>
        <p:txBody>
          <a:bodyPr>
            <a:normAutofit fontScale="92500" lnSpcReduction="10000"/>
          </a:bodyPr>
          <a:lstStyle/>
          <a:p>
            <a:r>
              <a:rPr lang="en-GB" dirty="0"/>
              <a:t>Maximum bending occurs at centre of axle.</a:t>
            </a:r>
          </a:p>
          <a:p>
            <a:r>
              <a:rPr lang="en-GB" dirty="0"/>
              <a:t>Bending moment is critical for axle design.</a:t>
            </a:r>
          </a:p>
          <a:p>
            <a:r>
              <a:rPr lang="en-GB" dirty="0"/>
              <a:t>Used to determine bending stress.</a:t>
            </a:r>
          </a:p>
          <a:p>
            <a:r>
              <a:rPr lang="en-GB" b="1" dirty="0"/>
              <a:t>Importance</a:t>
            </a:r>
          </a:p>
          <a:p>
            <a:r>
              <a:rPr lang="en-GB" dirty="0"/>
              <a:t>Prevents structural failure</a:t>
            </a:r>
          </a:p>
          <a:p>
            <a:r>
              <a:rPr lang="en-GB" dirty="0"/>
              <a:t>Ensures safe operation</a:t>
            </a:r>
          </a:p>
        </p:txBody>
      </p:sp>
      <p:pic>
        <p:nvPicPr>
          <p:cNvPr id="5" name="Picture 4">
            <a:extLst>
              <a:ext uri="{FF2B5EF4-FFF2-40B4-BE49-F238E27FC236}">
                <a16:creationId xmlns:a16="http://schemas.microsoft.com/office/drawing/2014/main" id="{8D22D6DD-C1A1-69EF-F195-0AED2C1C5DCA}"/>
              </a:ext>
            </a:extLst>
          </p:cNvPr>
          <p:cNvPicPr>
            <a:picLocks noChangeAspect="1"/>
          </p:cNvPicPr>
          <p:nvPr/>
        </p:nvPicPr>
        <p:blipFill>
          <a:blip r:embed="rId2"/>
          <a:stretch>
            <a:fillRect/>
          </a:stretch>
        </p:blipFill>
        <p:spPr>
          <a:xfrm>
            <a:off x="6096000" y="2556931"/>
            <a:ext cx="5207306" cy="3318935"/>
          </a:xfrm>
          <a:prstGeom prst="rect">
            <a:avLst/>
          </a:prstGeom>
        </p:spPr>
      </p:pic>
      <p:sp>
        <p:nvSpPr>
          <p:cNvPr id="4" name="Slide Number Placeholder 3">
            <a:extLst>
              <a:ext uri="{FF2B5EF4-FFF2-40B4-BE49-F238E27FC236}">
                <a16:creationId xmlns:a16="http://schemas.microsoft.com/office/drawing/2014/main" id="{CE8962CB-B798-04AC-776E-D8F7723A1ABC}"/>
              </a:ext>
            </a:extLst>
          </p:cNvPr>
          <p:cNvSpPr>
            <a:spLocks noGrp="1"/>
          </p:cNvSpPr>
          <p:nvPr>
            <p:ph type="sldNum" sz="quarter" idx="12"/>
          </p:nvPr>
        </p:nvSpPr>
        <p:spPr/>
        <p:txBody>
          <a:bodyPr/>
          <a:lstStyle/>
          <a:p>
            <a:fld id="{5D84065D-F351-4B03-BD91-D8A6B8D4B362}" type="slidenum">
              <a:rPr lang="en-US" smtClean="0"/>
              <a:t>17</a:t>
            </a:fld>
            <a:endParaRPr lang="en-US" dirty="0"/>
          </a:p>
        </p:txBody>
      </p:sp>
      <p:sp>
        <p:nvSpPr>
          <p:cNvPr id="6" name="Date Placeholder 5">
            <a:extLst>
              <a:ext uri="{FF2B5EF4-FFF2-40B4-BE49-F238E27FC236}">
                <a16:creationId xmlns:a16="http://schemas.microsoft.com/office/drawing/2014/main" id="{D0A50DF4-B315-A048-0E87-A28746B3E4FC}"/>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30384869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 calcmode="lin" valueType="num">
                                      <p:cBhvr additive="base">
                                        <p:cTn id="4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left)">
                                      <p:cBhvr>
                                        <p:cTn id="4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Optimization and Factor of Safety</a:t>
            </a:r>
          </a:p>
        </p:txBody>
      </p:sp>
      <p:sp>
        <p:nvSpPr>
          <p:cNvPr id="3" name="Content Placeholder 2"/>
          <p:cNvSpPr>
            <a:spLocks noGrp="1"/>
          </p:cNvSpPr>
          <p:nvPr>
            <p:ph idx="1"/>
          </p:nvPr>
        </p:nvSpPr>
        <p:spPr/>
        <p:txBody>
          <a:bodyPr>
            <a:normAutofit lnSpcReduction="10000"/>
          </a:bodyPr>
          <a:lstStyle/>
          <a:p>
            <a:r>
              <a:rPr lang="en-GB" b="1" dirty="0"/>
              <a:t>Optimization Goals</a:t>
            </a:r>
          </a:p>
          <a:p>
            <a:r>
              <a:rPr lang="en-GB" dirty="0"/>
              <a:t>Reduce mass</a:t>
            </a:r>
          </a:p>
          <a:p>
            <a:r>
              <a:rPr lang="en-GB" dirty="0"/>
              <a:t>Reduce material usage</a:t>
            </a:r>
          </a:p>
          <a:p>
            <a:r>
              <a:rPr lang="en-GB" dirty="0"/>
              <a:t>Maintain safety</a:t>
            </a:r>
          </a:p>
          <a:p>
            <a:r>
              <a:rPr lang="en-GB" b="1" dirty="0"/>
              <a:t>Factor of Safety</a:t>
            </a:r>
          </a:p>
          <a:p>
            <a:r>
              <a:rPr lang="en-GB" dirty="0"/>
              <a:t>Selected FOS = 2.5</a:t>
            </a:r>
          </a:p>
          <a:p>
            <a:r>
              <a:rPr lang="en-GB" dirty="0"/>
              <a:t>Ensures reliable operation</a:t>
            </a:r>
          </a:p>
        </p:txBody>
      </p:sp>
      <p:sp>
        <p:nvSpPr>
          <p:cNvPr id="4" name="Slide Number Placeholder 3">
            <a:extLst>
              <a:ext uri="{FF2B5EF4-FFF2-40B4-BE49-F238E27FC236}">
                <a16:creationId xmlns:a16="http://schemas.microsoft.com/office/drawing/2014/main" id="{603779C8-F0D5-FE83-C2EC-AF5C10781CB2}"/>
              </a:ext>
            </a:extLst>
          </p:cNvPr>
          <p:cNvSpPr>
            <a:spLocks noGrp="1"/>
          </p:cNvSpPr>
          <p:nvPr>
            <p:ph type="sldNum" sz="quarter" idx="12"/>
          </p:nvPr>
        </p:nvSpPr>
        <p:spPr/>
        <p:txBody>
          <a:bodyPr/>
          <a:lstStyle/>
          <a:p>
            <a:fld id="{5D84065D-F351-4B03-BD91-D8A6B8D4B362}" type="slidenum">
              <a:rPr lang="en-US" smtClean="0"/>
              <a:t>18</a:t>
            </a:fld>
            <a:endParaRPr lang="en-US" dirty="0"/>
          </a:p>
        </p:txBody>
      </p:sp>
      <p:sp>
        <p:nvSpPr>
          <p:cNvPr id="5" name="Date Placeholder 4">
            <a:extLst>
              <a:ext uri="{FF2B5EF4-FFF2-40B4-BE49-F238E27FC236}">
                <a16:creationId xmlns:a16="http://schemas.microsoft.com/office/drawing/2014/main" id="{7DFAB7E1-C38B-039E-A84B-F86A7847CA90}"/>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1607059773"/>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62D2D-BC87-500A-E272-42AC44022517}"/>
              </a:ext>
            </a:extLst>
          </p:cNvPr>
          <p:cNvSpPr>
            <a:spLocks noGrp="1"/>
          </p:cNvSpPr>
          <p:nvPr>
            <p:ph type="title"/>
          </p:nvPr>
        </p:nvSpPr>
        <p:spPr/>
        <p:txBody>
          <a:bodyPr/>
          <a:lstStyle/>
          <a:p>
            <a:r>
              <a:rPr lang="en-US" b="1" dirty="0"/>
              <a:t>Allowable Stresses</a:t>
            </a:r>
          </a:p>
        </p:txBody>
      </p:sp>
      <p:sp>
        <p:nvSpPr>
          <p:cNvPr id="3" name="Content Placeholder 2">
            <a:extLst>
              <a:ext uri="{FF2B5EF4-FFF2-40B4-BE49-F238E27FC236}">
                <a16:creationId xmlns:a16="http://schemas.microsoft.com/office/drawing/2014/main" id="{64CB09EA-A162-880B-A110-218B6F0C94F0}"/>
              </a:ext>
            </a:extLst>
          </p:cNvPr>
          <p:cNvSpPr>
            <a:spLocks noGrp="1"/>
          </p:cNvSpPr>
          <p:nvPr>
            <p:ph idx="1"/>
          </p:nvPr>
        </p:nvSpPr>
        <p:spPr>
          <a:xfrm>
            <a:off x="1295401" y="2602018"/>
            <a:ext cx="9601196" cy="4301068"/>
          </a:xfrm>
        </p:spPr>
        <p:txBody>
          <a:bodyPr/>
          <a:lstStyle/>
          <a:p>
            <a:pPr>
              <a:lnSpc>
                <a:spcPct val="150000"/>
              </a:lnSpc>
            </a:pPr>
            <a:r>
              <a:rPr lang="en-US" dirty="0"/>
              <a:t>FOS = Yield Strength / allowable Stress</a:t>
            </a:r>
          </a:p>
          <a:p>
            <a:pPr>
              <a:lnSpc>
                <a:spcPct val="150000"/>
              </a:lnSpc>
            </a:pPr>
            <a:r>
              <a:rPr lang="en-US" dirty="0"/>
              <a:t>FOS = 2.5 </a:t>
            </a:r>
          </a:p>
          <a:p>
            <a:pPr>
              <a:lnSpc>
                <a:spcPct val="150000"/>
              </a:lnSpc>
            </a:pPr>
            <a:r>
              <a:rPr lang="en-US" dirty="0"/>
              <a:t>Allowable Normal Stress = 166 MPa</a:t>
            </a:r>
          </a:p>
          <a:p>
            <a:pPr>
              <a:lnSpc>
                <a:spcPct val="150000"/>
              </a:lnSpc>
            </a:pPr>
            <a:r>
              <a:rPr lang="en-US" dirty="0"/>
              <a:t>Allowable Shearing Stress = 96 MPa</a:t>
            </a:r>
          </a:p>
        </p:txBody>
      </p:sp>
      <p:sp>
        <p:nvSpPr>
          <p:cNvPr id="4" name="Slide Number Placeholder 3">
            <a:extLst>
              <a:ext uri="{FF2B5EF4-FFF2-40B4-BE49-F238E27FC236}">
                <a16:creationId xmlns:a16="http://schemas.microsoft.com/office/drawing/2014/main" id="{EF45A297-4E76-E11B-EB60-789EF9E4A448}"/>
              </a:ext>
            </a:extLst>
          </p:cNvPr>
          <p:cNvSpPr>
            <a:spLocks noGrp="1"/>
          </p:cNvSpPr>
          <p:nvPr>
            <p:ph type="sldNum" sz="quarter" idx="12"/>
          </p:nvPr>
        </p:nvSpPr>
        <p:spPr/>
        <p:txBody>
          <a:bodyPr/>
          <a:lstStyle/>
          <a:p>
            <a:fld id="{5D84065D-F351-4B03-BD91-D8A6B8D4B362}" type="slidenum">
              <a:rPr lang="en-US" smtClean="0"/>
              <a:t>19</a:t>
            </a:fld>
            <a:endParaRPr lang="en-US" dirty="0"/>
          </a:p>
        </p:txBody>
      </p:sp>
      <p:sp>
        <p:nvSpPr>
          <p:cNvPr id="5" name="Date Placeholder 4">
            <a:extLst>
              <a:ext uri="{FF2B5EF4-FFF2-40B4-BE49-F238E27FC236}">
                <a16:creationId xmlns:a16="http://schemas.microsoft.com/office/drawing/2014/main" id="{1B53EB46-B4DC-1E26-89E0-6DB6E81525B6}"/>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3311560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Bending Stress Equation</a:t>
            </a:r>
            <a:endParaRPr lang="en-GB" dirty="0"/>
          </a:p>
        </p:txBody>
      </p:sp>
      <p:sp>
        <p:nvSpPr>
          <p:cNvPr id="3" name="Content Placeholder 2"/>
          <p:cNvSpPr>
            <a:spLocks noGrp="1"/>
          </p:cNvSpPr>
          <p:nvPr>
            <p:ph idx="1"/>
          </p:nvPr>
        </p:nvSpPr>
        <p:spPr>
          <a:xfrm>
            <a:off x="1295401" y="2556932"/>
            <a:ext cx="4345235" cy="3318936"/>
          </a:xfrm>
        </p:spPr>
        <p:txBody>
          <a:bodyPr>
            <a:normAutofit fontScale="85000" lnSpcReduction="20000"/>
          </a:bodyPr>
          <a:lstStyle/>
          <a:p>
            <a:r>
              <a:rPr lang="en-GB" dirty="0"/>
              <a:t>The bending stress in the axle is determined using:</a:t>
            </a:r>
          </a:p>
          <a:p>
            <a:r>
              <a:rPr lang="en-GB" dirty="0"/>
              <a:t>σ = Mc / I</a:t>
            </a:r>
          </a:p>
          <a:p>
            <a:r>
              <a:rPr lang="en-GB" dirty="0"/>
              <a:t>Where:</a:t>
            </a:r>
          </a:p>
          <a:p>
            <a:pPr lvl="0"/>
            <a:r>
              <a:rPr lang="en-GB" dirty="0"/>
              <a:t>σ = Bending stress</a:t>
            </a:r>
          </a:p>
          <a:p>
            <a:pPr lvl="0"/>
            <a:r>
              <a:rPr lang="en-GB" dirty="0"/>
              <a:t>M = Bending moment</a:t>
            </a:r>
          </a:p>
          <a:p>
            <a:pPr lvl="0"/>
            <a:r>
              <a:rPr lang="en-GB" dirty="0"/>
              <a:t>c = Distance from neutral axis to outer surface</a:t>
            </a:r>
          </a:p>
          <a:p>
            <a:pPr lvl="0"/>
            <a:r>
              <a:rPr lang="en-GB" dirty="0"/>
              <a:t>I = Moment of inertia</a:t>
            </a:r>
          </a:p>
        </p:txBody>
      </p:sp>
      <p:sp>
        <p:nvSpPr>
          <p:cNvPr id="6" name="TextBox 5">
            <a:extLst>
              <a:ext uri="{FF2B5EF4-FFF2-40B4-BE49-F238E27FC236}">
                <a16:creationId xmlns:a16="http://schemas.microsoft.com/office/drawing/2014/main" id="{5A91CDF4-D06C-069B-73E7-13C8BFB26A60}"/>
              </a:ext>
            </a:extLst>
          </p:cNvPr>
          <p:cNvSpPr txBox="1"/>
          <p:nvPr/>
        </p:nvSpPr>
        <p:spPr>
          <a:xfrm>
            <a:off x="6301648" y="2613392"/>
            <a:ext cx="4594950" cy="2246769"/>
          </a:xfrm>
          <a:prstGeom prst="rect">
            <a:avLst/>
          </a:prstGeom>
          <a:noFill/>
        </p:spPr>
        <p:txBody>
          <a:bodyPr wrap="square" rtlCol="0">
            <a:spAutoFit/>
          </a:bodyPr>
          <a:lstStyle/>
          <a:p>
            <a:pPr marL="285750" indent="-285750">
              <a:buFont typeface="Arial" panose="020B0604020202020204" pitchFamily="34" charset="0"/>
              <a:buChar char="•"/>
            </a:pPr>
            <a:r>
              <a:rPr lang="en-GB" sz="2000" dirty="0"/>
              <a:t>I = π (D</a:t>
            </a:r>
            <a:r>
              <a:rPr lang="en-GB" sz="2000" baseline="30000" dirty="0"/>
              <a:t>4</a:t>
            </a:r>
            <a:r>
              <a:rPr lang="en-GB" sz="2000" dirty="0"/>
              <a:t>) / 64</a:t>
            </a:r>
          </a:p>
          <a:p>
            <a:pPr marL="285750" indent="-285750">
              <a:buFont typeface="Arial" panose="020B0604020202020204" pitchFamily="34" charset="0"/>
              <a:buChar char="•"/>
            </a:pPr>
            <a:r>
              <a:rPr lang="en-US" sz="2000" dirty="0">
                <a:latin typeface="+mj-lt"/>
              </a:rPr>
              <a:t>c = d/2</a:t>
            </a:r>
          </a:p>
          <a:p>
            <a:pPr marL="285750" indent="-285750">
              <a:buFont typeface="Arial" panose="020B0604020202020204" pitchFamily="34" charset="0"/>
              <a:buChar char="•"/>
            </a:pPr>
            <a:r>
              <a:rPr lang="en-US" sz="2000" dirty="0">
                <a:latin typeface="+mj-lt"/>
              </a:rPr>
              <a:t>Using this Bending Stress formula, we calculated the Diameter for our rear dead axle.</a:t>
            </a:r>
          </a:p>
          <a:p>
            <a:pPr marL="285750" indent="-285750">
              <a:buFont typeface="Arial" panose="020B0604020202020204" pitchFamily="34" charset="0"/>
              <a:buChar char="•"/>
            </a:pPr>
            <a:r>
              <a:rPr lang="en-US" sz="2000" dirty="0">
                <a:latin typeface="+mj-lt"/>
              </a:rPr>
              <a:t>Shaft is taken solid </a:t>
            </a:r>
          </a:p>
          <a:p>
            <a:pPr marL="285750" indent="-285750">
              <a:buFont typeface="Arial" panose="020B0604020202020204" pitchFamily="34" charset="0"/>
              <a:buChar char="•"/>
            </a:pPr>
            <a:r>
              <a:rPr lang="en-US" sz="2000" dirty="0">
                <a:latin typeface="+mj-lt"/>
              </a:rPr>
              <a:t>Diameter of Solid Shaft = 45 mm</a:t>
            </a:r>
          </a:p>
        </p:txBody>
      </p:sp>
      <p:sp>
        <p:nvSpPr>
          <p:cNvPr id="4" name="Slide Number Placeholder 3">
            <a:extLst>
              <a:ext uri="{FF2B5EF4-FFF2-40B4-BE49-F238E27FC236}">
                <a16:creationId xmlns:a16="http://schemas.microsoft.com/office/drawing/2014/main" id="{3D9C8840-CD2A-F8B4-6922-AF0C5EA250B3}"/>
              </a:ext>
            </a:extLst>
          </p:cNvPr>
          <p:cNvSpPr>
            <a:spLocks noGrp="1"/>
          </p:cNvSpPr>
          <p:nvPr>
            <p:ph type="sldNum" sz="quarter" idx="12"/>
          </p:nvPr>
        </p:nvSpPr>
        <p:spPr/>
        <p:txBody>
          <a:bodyPr/>
          <a:lstStyle/>
          <a:p>
            <a:fld id="{5D84065D-F351-4B03-BD91-D8A6B8D4B362}" type="slidenum">
              <a:rPr lang="en-US" smtClean="0"/>
              <a:t>20</a:t>
            </a:fld>
            <a:endParaRPr lang="en-US" dirty="0"/>
          </a:p>
        </p:txBody>
      </p:sp>
      <p:sp>
        <p:nvSpPr>
          <p:cNvPr id="5" name="Date Placeholder 4">
            <a:extLst>
              <a:ext uri="{FF2B5EF4-FFF2-40B4-BE49-F238E27FC236}">
                <a16:creationId xmlns:a16="http://schemas.microsoft.com/office/drawing/2014/main" id="{73BEF6FD-D95E-DBE2-BC11-B63F6E68751B}"/>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31095660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 calcmode="lin" valueType="num">
                                      <p:cBhvr additive="base">
                                        <p:cTn id="4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 calcmode="lin" valueType="num">
                                      <p:cBhvr additive="base">
                                        <p:cTn id="4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6"/>
                                        </p:tgtEl>
                                        <p:attrNameLst>
                                          <p:attrName>style.visibility</p:attrName>
                                        </p:attrNameLst>
                                      </p:cBhvr>
                                      <p:to>
                                        <p:strVal val="visible"/>
                                      </p:to>
                                    </p:set>
                                    <p:anim calcmode="lin" valueType="num">
                                      <p:cBhvr additive="base">
                                        <p:cTn id="51" dur="500" fill="hold"/>
                                        <p:tgtEl>
                                          <p:spTgt spid="6"/>
                                        </p:tgtEl>
                                        <p:attrNameLst>
                                          <p:attrName>ppt_x</p:attrName>
                                        </p:attrNameLst>
                                      </p:cBhvr>
                                      <p:tavLst>
                                        <p:tav tm="0">
                                          <p:val>
                                            <p:strVal val="#ppt_x"/>
                                          </p:val>
                                        </p:tav>
                                        <p:tav tm="100000">
                                          <p:val>
                                            <p:strVal val="#ppt_x"/>
                                          </p:val>
                                        </p:tav>
                                      </p:tavLst>
                                    </p:anim>
                                    <p:anim calcmode="lin" valueType="num">
                                      <p:cBhvr additive="base">
                                        <p:cTn id="5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Shear stress</a:t>
            </a:r>
          </a:p>
        </p:txBody>
      </p:sp>
      <p:sp>
        <p:nvSpPr>
          <p:cNvPr id="3" name="Content Placeholder 2"/>
          <p:cNvSpPr>
            <a:spLocks noGrp="1"/>
          </p:cNvSpPr>
          <p:nvPr>
            <p:ph idx="1"/>
          </p:nvPr>
        </p:nvSpPr>
        <p:spPr>
          <a:xfrm>
            <a:off x="1295401" y="2556932"/>
            <a:ext cx="5127433" cy="3318936"/>
          </a:xfrm>
        </p:spPr>
        <p:txBody>
          <a:bodyPr>
            <a:normAutofit fontScale="77500" lnSpcReduction="20000"/>
          </a:bodyPr>
          <a:lstStyle/>
          <a:p>
            <a:r>
              <a:rPr lang="en-GB" dirty="0"/>
              <a:t>The axle also experiences torsional shear stress due to braking force.</a:t>
            </a:r>
          </a:p>
          <a:p>
            <a:r>
              <a:rPr lang="en-GB" dirty="0"/>
              <a:t>The approximate shear stress equation is:</a:t>
            </a:r>
          </a:p>
          <a:p>
            <a:r>
              <a:rPr lang="en-GB" dirty="0"/>
              <a:t>τ = Tc / J</a:t>
            </a:r>
          </a:p>
          <a:p>
            <a:r>
              <a:rPr lang="en-GB" dirty="0"/>
              <a:t>Where: </a:t>
            </a:r>
          </a:p>
          <a:p>
            <a:pPr lvl="0"/>
            <a:r>
              <a:rPr lang="en-GB" dirty="0"/>
              <a:t>τ = Shear stress</a:t>
            </a:r>
          </a:p>
          <a:p>
            <a:pPr lvl="0"/>
            <a:r>
              <a:rPr lang="en-GB" dirty="0"/>
              <a:t>T = Torque</a:t>
            </a:r>
          </a:p>
          <a:p>
            <a:pPr lvl="0"/>
            <a:r>
              <a:rPr lang="en-GB" dirty="0"/>
              <a:t>c = Distance from neutral axis to outer surface</a:t>
            </a:r>
          </a:p>
          <a:p>
            <a:pPr lvl="0"/>
            <a:r>
              <a:rPr lang="en-GB" dirty="0"/>
              <a:t>I = Moment of inertia</a:t>
            </a:r>
          </a:p>
          <a:p>
            <a:pPr lvl="0"/>
            <a:endParaRPr lang="en-GB"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B6A3F92-A74E-4994-959F-4795A103AA0C}"/>
                  </a:ext>
                </a:extLst>
              </p:cNvPr>
              <p:cNvSpPr txBox="1"/>
              <p:nvPr/>
            </p:nvSpPr>
            <p:spPr>
              <a:xfrm>
                <a:off x="6422834" y="2556932"/>
                <a:ext cx="4946573" cy="234532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latin typeface="+mj-lt"/>
                  </a:rPr>
                  <a:t> using the diameter 45 mm </a:t>
                </a:r>
              </a:p>
              <a:p>
                <a:pPr marL="285750" indent="-285750">
                  <a:lnSpc>
                    <a:spcPct val="150000"/>
                  </a:lnSpc>
                  <a:buFont typeface="Arial" panose="020B0604020202020204" pitchFamily="34" charset="0"/>
                  <a:buChar char="•"/>
                </a:pPr>
                <a:r>
                  <a:rPr lang="en-US" sz="2000" dirty="0">
                    <a:latin typeface="+mj-lt"/>
                  </a:rPr>
                  <a:t>Where torque = </a:t>
                </a:r>
                <a14:m>
                  <m:oMath xmlns:m="http://schemas.openxmlformats.org/officeDocument/2006/math">
                    <m:r>
                      <a:rPr lang="en-US" sz="2000" i="1" smtClean="0">
                        <a:latin typeface="Cambria Math" panose="02040503050406030204" pitchFamily="18" charset="0"/>
                        <a:ea typeface="Cambria Math" panose="02040503050406030204" pitchFamily="18" charset="0"/>
                      </a:rPr>
                      <m:t>𝜇</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𝐹</m:t>
                    </m:r>
                    <m:r>
                      <a:rPr lang="en-US" sz="2000" b="0" i="1" smtClean="0">
                        <a:latin typeface="Cambria Math" panose="02040503050406030204" pitchFamily="18" charset="0"/>
                        <a:ea typeface="Cambria Math" panose="02040503050406030204" pitchFamily="18" charset="0"/>
                      </a:rPr>
                      <m:t> </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𝑟</m:t>
                        </m:r>
                      </m:e>
                      <m:sub>
                        <m:r>
                          <a:rPr lang="en-US" sz="2000" b="0" i="1" smtClean="0">
                            <a:latin typeface="Cambria Math" panose="02040503050406030204" pitchFamily="18" charset="0"/>
                            <a:ea typeface="Cambria Math" panose="02040503050406030204" pitchFamily="18" charset="0"/>
                          </a:rPr>
                          <m:t>𝑤h𝑒𝑒𝑙</m:t>
                        </m:r>
                      </m:sub>
                    </m:sSub>
                  </m:oMath>
                </a14:m>
                <a:endParaRPr lang="en-US" sz="2000" dirty="0">
                  <a:latin typeface="+mj-lt"/>
                </a:endParaRPr>
              </a:p>
              <a:p>
                <a:pPr marL="285750" indent="-285750">
                  <a:lnSpc>
                    <a:spcPct val="150000"/>
                  </a:lnSpc>
                  <a:buFont typeface="Arial" panose="020B0604020202020204" pitchFamily="34" charset="0"/>
                  <a:buChar char="•"/>
                </a:pPr>
                <a:r>
                  <a:rPr lang="en-US" sz="2000" dirty="0">
                    <a:latin typeface="+mj-lt"/>
                  </a:rPr>
                  <a:t>Torque = 0.7 x 4782.375 x 0.3</a:t>
                </a:r>
              </a:p>
              <a:p>
                <a:pPr marL="285750" indent="-285750">
                  <a:lnSpc>
                    <a:spcPct val="150000"/>
                  </a:lnSpc>
                  <a:buFont typeface="Arial" panose="020B0604020202020204" pitchFamily="34" charset="0"/>
                  <a:buChar char="•"/>
                </a:pPr>
                <a:r>
                  <a:rPr lang="en-US" sz="2000" dirty="0">
                    <a:latin typeface="+mj-lt"/>
                  </a:rPr>
                  <a:t>T = 1004.29875 N</a:t>
                </a:r>
              </a:p>
              <a:p>
                <a:pPr marL="285750" indent="-285750">
                  <a:lnSpc>
                    <a:spcPct val="150000"/>
                  </a:lnSpc>
                  <a:buFont typeface="Arial" panose="020B0604020202020204" pitchFamily="34" charset="0"/>
                  <a:buChar char="•"/>
                </a:pPr>
                <a:r>
                  <a:rPr lang="en-US" sz="2000" dirty="0">
                    <a:latin typeface="+mj-lt"/>
                  </a:rPr>
                  <a:t>So Shearing Stress come outs 56.1 MPa</a:t>
                </a:r>
              </a:p>
            </p:txBody>
          </p:sp>
        </mc:Choice>
        <mc:Fallback xmlns="">
          <p:sp>
            <p:nvSpPr>
              <p:cNvPr id="4" name="TextBox 3">
                <a:extLst>
                  <a:ext uri="{FF2B5EF4-FFF2-40B4-BE49-F238E27FC236}">
                    <a16:creationId xmlns:a16="http://schemas.microsoft.com/office/drawing/2014/main" id="{DB6A3F92-A74E-4994-959F-4795A103AA0C}"/>
                  </a:ext>
                </a:extLst>
              </p:cNvPr>
              <p:cNvSpPr txBox="1">
                <a:spLocks noRot="1" noChangeAspect="1" noMove="1" noResize="1" noEditPoints="1" noAdjustHandles="1" noChangeArrowheads="1" noChangeShapeType="1" noTextEdit="1"/>
              </p:cNvSpPr>
              <p:nvPr/>
            </p:nvSpPr>
            <p:spPr>
              <a:xfrm>
                <a:off x="6422834" y="2556932"/>
                <a:ext cx="4946573" cy="2345322"/>
              </a:xfrm>
              <a:prstGeom prst="rect">
                <a:avLst/>
              </a:prstGeom>
              <a:blipFill>
                <a:blip r:embed="rId2"/>
                <a:stretch>
                  <a:fillRect l="-1110" b="-3636"/>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E6BF56BB-AC8F-9D85-3880-5028EE244239}"/>
              </a:ext>
            </a:extLst>
          </p:cNvPr>
          <p:cNvSpPr>
            <a:spLocks noGrp="1"/>
          </p:cNvSpPr>
          <p:nvPr>
            <p:ph type="sldNum" sz="quarter" idx="12"/>
          </p:nvPr>
        </p:nvSpPr>
        <p:spPr/>
        <p:txBody>
          <a:bodyPr/>
          <a:lstStyle/>
          <a:p>
            <a:fld id="{5D84065D-F351-4B03-BD91-D8A6B8D4B362}" type="slidenum">
              <a:rPr lang="en-US" smtClean="0"/>
              <a:t>21</a:t>
            </a:fld>
            <a:endParaRPr lang="en-US" dirty="0"/>
          </a:p>
        </p:txBody>
      </p:sp>
      <p:sp>
        <p:nvSpPr>
          <p:cNvPr id="6" name="Date Placeholder 5">
            <a:extLst>
              <a:ext uri="{FF2B5EF4-FFF2-40B4-BE49-F238E27FC236}">
                <a16:creationId xmlns:a16="http://schemas.microsoft.com/office/drawing/2014/main" id="{D074192C-C706-CDDB-EB00-FB6C767C4419}"/>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2580255466"/>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Principle stresses</a:t>
            </a:r>
          </a:p>
        </p:txBody>
      </p:sp>
      <p:sp>
        <p:nvSpPr>
          <p:cNvPr id="3" name="Content Placeholder 2"/>
          <p:cNvSpPr>
            <a:spLocks noGrp="1"/>
          </p:cNvSpPr>
          <p:nvPr>
            <p:ph idx="1"/>
          </p:nvPr>
        </p:nvSpPr>
        <p:spPr/>
        <p:txBody>
          <a:bodyPr>
            <a:normAutofit fontScale="92500" lnSpcReduction="20000"/>
          </a:bodyPr>
          <a:lstStyle/>
          <a:p>
            <a:r>
              <a:rPr lang="en-GB" b="1" dirty="0"/>
              <a:t>Principal Stress Analysis</a:t>
            </a:r>
          </a:p>
          <a:p>
            <a:r>
              <a:rPr lang="en-GB" dirty="0"/>
              <a:t>Axle experiences combined stresses.</a:t>
            </a:r>
          </a:p>
          <a:p>
            <a:r>
              <a:rPr lang="en-GB" dirty="0"/>
              <a:t>Principal stress predicts maximum stress condition.</a:t>
            </a:r>
          </a:p>
          <a:p>
            <a:r>
              <a:rPr lang="en-GB" dirty="0"/>
              <a:t>Helps prevent material failure.</a:t>
            </a:r>
          </a:p>
          <a:p>
            <a:r>
              <a:rPr lang="en-GB" b="1" dirty="0"/>
              <a:t>Importance</a:t>
            </a:r>
          </a:p>
          <a:p>
            <a:r>
              <a:rPr lang="en-GB" dirty="0"/>
              <a:t>Safe design</a:t>
            </a:r>
          </a:p>
          <a:p>
            <a:r>
              <a:rPr lang="en-GB" dirty="0"/>
              <a:t>Material selection</a:t>
            </a:r>
          </a:p>
          <a:p>
            <a:r>
              <a:rPr lang="en-GB" dirty="0"/>
              <a:t>Reliability evaluation</a:t>
            </a:r>
          </a:p>
          <a:p>
            <a:pPr marL="0" indent="0">
              <a:buNone/>
            </a:pPr>
            <a:endParaRPr lang="en-GB" dirty="0"/>
          </a:p>
        </p:txBody>
      </p:sp>
      <p:sp>
        <p:nvSpPr>
          <p:cNvPr id="4" name="Slide Number Placeholder 3">
            <a:extLst>
              <a:ext uri="{FF2B5EF4-FFF2-40B4-BE49-F238E27FC236}">
                <a16:creationId xmlns:a16="http://schemas.microsoft.com/office/drawing/2014/main" id="{BA9F58AD-DE0D-E9DB-4B6B-118C0B4468D3}"/>
              </a:ext>
            </a:extLst>
          </p:cNvPr>
          <p:cNvSpPr>
            <a:spLocks noGrp="1"/>
          </p:cNvSpPr>
          <p:nvPr>
            <p:ph type="sldNum" sz="quarter" idx="12"/>
          </p:nvPr>
        </p:nvSpPr>
        <p:spPr/>
        <p:txBody>
          <a:bodyPr/>
          <a:lstStyle/>
          <a:p>
            <a:fld id="{5D84065D-F351-4B03-BD91-D8A6B8D4B362}" type="slidenum">
              <a:rPr lang="en-US" smtClean="0"/>
              <a:t>22</a:t>
            </a:fld>
            <a:endParaRPr lang="en-US" dirty="0"/>
          </a:p>
        </p:txBody>
      </p:sp>
      <p:sp>
        <p:nvSpPr>
          <p:cNvPr id="5" name="Date Placeholder 4">
            <a:extLst>
              <a:ext uri="{FF2B5EF4-FFF2-40B4-BE49-F238E27FC236}">
                <a16:creationId xmlns:a16="http://schemas.microsoft.com/office/drawing/2014/main" id="{97FB8BAF-E6D2-031B-2096-6E7487E82D52}"/>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1289707095"/>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Principle stress formula</a:t>
            </a:r>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404595" y="2592372"/>
            <a:ext cx="8290248" cy="2960016"/>
          </a:xfrm>
          <a:prstGeom prst="rect">
            <a:avLst/>
          </a:prstGeom>
        </p:spPr>
      </p:pic>
      <p:sp>
        <p:nvSpPr>
          <p:cNvPr id="3" name="Slide Number Placeholder 2">
            <a:extLst>
              <a:ext uri="{FF2B5EF4-FFF2-40B4-BE49-F238E27FC236}">
                <a16:creationId xmlns:a16="http://schemas.microsoft.com/office/drawing/2014/main" id="{E398B1C3-5C9F-E840-5DA3-7B305F31BD52}"/>
              </a:ext>
            </a:extLst>
          </p:cNvPr>
          <p:cNvSpPr>
            <a:spLocks noGrp="1"/>
          </p:cNvSpPr>
          <p:nvPr>
            <p:ph type="sldNum" sz="quarter" idx="12"/>
          </p:nvPr>
        </p:nvSpPr>
        <p:spPr/>
        <p:txBody>
          <a:bodyPr/>
          <a:lstStyle/>
          <a:p>
            <a:fld id="{5D84065D-F351-4B03-BD91-D8A6B8D4B362}" type="slidenum">
              <a:rPr lang="en-US" smtClean="0"/>
              <a:t>23</a:t>
            </a:fld>
            <a:endParaRPr lang="en-US" dirty="0"/>
          </a:p>
        </p:txBody>
      </p:sp>
      <p:sp>
        <p:nvSpPr>
          <p:cNvPr id="5" name="Date Placeholder 4">
            <a:extLst>
              <a:ext uri="{FF2B5EF4-FFF2-40B4-BE49-F238E27FC236}">
                <a16:creationId xmlns:a16="http://schemas.microsoft.com/office/drawing/2014/main" id="{A7BFAEC4-770B-94A3-5217-CECA77EDE7A3}"/>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711842814"/>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05D64-FAAE-2E6B-28F1-CF883212A979}"/>
              </a:ext>
            </a:extLst>
          </p:cNvPr>
          <p:cNvSpPr>
            <a:spLocks noGrp="1"/>
          </p:cNvSpPr>
          <p:nvPr>
            <p:ph type="title"/>
          </p:nvPr>
        </p:nvSpPr>
        <p:spPr>
          <a:xfrm>
            <a:off x="1181104" y="839258"/>
            <a:ext cx="9601196" cy="1437217"/>
          </a:xfrm>
        </p:spPr>
        <p:txBody>
          <a:bodyPr/>
          <a:lstStyle/>
          <a:p>
            <a:r>
              <a:rPr lang="en-US" dirty="0"/>
              <a:t>Results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62B8D037-FB1E-DC8B-5B6C-7F5359522176}"/>
                  </a:ext>
                </a:extLst>
              </p:cNvPr>
              <p:cNvGraphicFramePr>
                <a:graphicFrameLocks noGrp="1"/>
              </p:cNvGraphicFramePr>
              <p:nvPr>
                <p:ph idx="1"/>
                <p:extLst>
                  <p:ext uri="{D42A27DB-BD31-4B8C-83A1-F6EECF244321}">
                    <p14:modId xmlns:p14="http://schemas.microsoft.com/office/powerpoint/2010/main" val="1226509895"/>
                  </p:ext>
                </p:extLst>
              </p:nvPr>
            </p:nvGraphicFramePr>
            <p:xfrm>
              <a:off x="1466850" y="2143125"/>
              <a:ext cx="9315450" cy="3962400"/>
            </p:xfrm>
            <a:graphic>
              <a:graphicData uri="http://schemas.openxmlformats.org/drawingml/2006/table">
                <a:tbl>
                  <a:tblPr firstRow="1" firstCol="1" bandRow="1">
                    <a:tableStyleId>{5940675A-B579-460E-94D1-54222C63F5DA}</a:tableStyleId>
                  </a:tblPr>
                  <a:tblGrid>
                    <a:gridCol w="4657725">
                      <a:extLst>
                        <a:ext uri="{9D8B030D-6E8A-4147-A177-3AD203B41FA5}">
                          <a16:colId xmlns:a16="http://schemas.microsoft.com/office/drawing/2014/main" val="3828943073"/>
                        </a:ext>
                      </a:extLst>
                    </a:gridCol>
                    <a:gridCol w="4657725">
                      <a:extLst>
                        <a:ext uri="{9D8B030D-6E8A-4147-A177-3AD203B41FA5}">
                          <a16:colId xmlns:a16="http://schemas.microsoft.com/office/drawing/2014/main" val="2516708153"/>
                        </a:ext>
                      </a:extLst>
                    </a:gridCol>
                  </a:tblGrid>
                  <a:tr h="274760">
                    <a:tc>
                      <a:txBody>
                        <a:bodyPr/>
                        <a:lstStyle/>
                        <a:p>
                          <a:pPr marL="0" marR="0" algn="ctr">
                            <a:buNone/>
                          </a:pPr>
                          <a:r>
                            <a:rPr lang="en-GB" sz="2000" dirty="0">
                              <a:solidFill>
                                <a:schemeClr val="tx1"/>
                              </a:solidFill>
                              <a:effectLst/>
                              <a:latin typeface="+mj-lt"/>
                            </a:rPr>
                            <a:t>V</a:t>
                          </a:r>
                          <a:r>
                            <a:rPr lang="en-GB" sz="2000" baseline="-25000" dirty="0">
                              <a:solidFill>
                                <a:schemeClr val="tx1"/>
                              </a:solidFill>
                              <a:effectLst/>
                              <a:latin typeface="+mj-lt"/>
                            </a:rPr>
                            <a:t>max</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a:solidFill>
                                <a:schemeClr val="tx1"/>
                              </a:solidFill>
                              <a:effectLst/>
                              <a:latin typeface="+mj-lt"/>
                            </a:rPr>
                            <a:t>4782.375 N</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54200490"/>
                      </a:ext>
                    </a:extLst>
                  </a:tr>
                  <a:tr h="274760">
                    <a:tc>
                      <a:txBody>
                        <a:bodyPr/>
                        <a:lstStyle/>
                        <a:p>
                          <a:pPr marL="0" marR="0" algn="ctr">
                            <a:buNone/>
                          </a:pPr>
                          <a:r>
                            <a:rPr lang="en-GB" sz="2000" dirty="0" err="1">
                              <a:solidFill>
                                <a:schemeClr val="tx1"/>
                              </a:solidFill>
                              <a:effectLst/>
                              <a:latin typeface="+mj-lt"/>
                            </a:rPr>
                            <a:t>M</a:t>
                          </a:r>
                          <a:r>
                            <a:rPr lang="en-GB" sz="2000" baseline="-25000" dirty="0" err="1">
                              <a:solidFill>
                                <a:schemeClr val="tx1"/>
                              </a:solidFill>
                              <a:effectLst/>
                              <a:latin typeface="+mj-lt"/>
                            </a:rPr>
                            <a:t>max</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a:solidFill>
                                <a:schemeClr val="tx1"/>
                              </a:solidFill>
                              <a:effectLst/>
                              <a:latin typeface="+mj-lt"/>
                            </a:rPr>
                            <a:t>1434.7125 Nm</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78433487"/>
                      </a:ext>
                    </a:extLst>
                  </a:tr>
                  <a:tr h="274760">
                    <a:tc>
                      <a:txBody>
                        <a:bodyPr/>
                        <a:lstStyle/>
                        <a:p>
                          <a:pPr marL="0" marR="0" algn="ctr">
                            <a:buNone/>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effectLst/>
                                        <a:latin typeface="Cambria Math" panose="02040503050406030204" pitchFamily="18" charset="0"/>
                                      </a:rPr>
                                    </m:ctrlPr>
                                  </m:sSubPr>
                                  <m:e>
                                    <m:r>
                                      <a:rPr lang="en-GB" sz="2000">
                                        <a:solidFill>
                                          <a:schemeClr val="tx1"/>
                                        </a:solidFill>
                                        <a:effectLst/>
                                        <a:latin typeface="Cambria Math" panose="02040503050406030204" pitchFamily="18" charset="0"/>
                                      </a:rPr>
                                      <m:t>𝜎</m:t>
                                    </m:r>
                                  </m:e>
                                  <m:sub>
                                    <m:r>
                                      <a:rPr lang="en-GB" sz="2000">
                                        <a:solidFill>
                                          <a:schemeClr val="tx1"/>
                                        </a:solidFill>
                                        <a:effectLst/>
                                        <a:latin typeface="Cambria Math" panose="02040503050406030204" pitchFamily="18" charset="0"/>
                                      </a:rPr>
                                      <m:t>𝑎𝑙𝑙𝑜𝑤𝑎𝑏𝑙𝑒</m:t>
                                    </m:r>
                                  </m:sub>
                                </m:sSub>
                              </m:oMath>
                            </m:oMathPara>
                          </a14:m>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a:solidFill>
                                <a:schemeClr val="tx1"/>
                              </a:solidFill>
                              <a:effectLst/>
                              <a:latin typeface="+mj-lt"/>
                            </a:rPr>
                            <a:t>166 MPa</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95237338"/>
                      </a:ext>
                    </a:extLst>
                  </a:tr>
                  <a:tr h="274760">
                    <a:tc>
                      <a:txBody>
                        <a:bodyPr/>
                        <a:lstStyle/>
                        <a:p>
                          <a:pPr marL="0" marR="0" algn="ctr">
                            <a:buNone/>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effectLst/>
                                        <a:latin typeface="Cambria Math" panose="02040503050406030204" pitchFamily="18" charset="0"/>
                                      </a:rPr>
                                    </m:ctrlPr>
                                  </m:sSubPr>
                                  <m:e>
                                    <m:r>
                                      <a:rPr lang="en-GB" sz="2000">
                                        <a:solidFill>
                                          <a:schemeClr val="tx1"/>
                                        </a:solidFill>
                                        <a:effectLst/>
                                        <a:latin typeface="Cambria Math" panose="02040503050406030204" pitchFamily="18" charset="0"/>
                                      </a:rPr>
                                      <m:t>𝜏</m:t>
                                    </m:r>
                                  </m:e>
                                  <m:sub>
                                    <m:r>
                                      <a:rPr lang="en-GB" sz="2000">
                                        <a:solidFill>
                                          <a:schemeClr val="tx1"/>
                                        </a:solidFill>
                                        <a:effectLst/>
                                        <a:latin typeface="Cambria Math" panose="02040503050406030204" pitchFamily="18" charset="0"/>
                                      </a:rPr>
                                      <m:t>𝑎𝑙𝑙𝑜𝑤𝑎𝑏𝑙𝑒</m:t>
                                    </m:r>
                                  </m:sub>
                                </m:sSub>
                              </m:oMath>
                            </m:oMathPara>
                          </a14:m>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a:solidFill>
                                <a:schemeClr val="tx1"/>
                              </a:solidFill>
                              <a:effectLst/>
                              <a:latin typeface="+mj-lt"/>
                            </a:rPr>
                            <a:t>96 MPa</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98268061"/>
                      </a:ext>
                    </a:extLst>
                  </a:tr>
                  <a:tr h="274760">
                    <a:tc>
                      <a:txBody>
                        <a:bodyPr/>
                        <a:lstStyle/>
                        <a:p>
                          <a:pPr marL="0" marR="0" algn="ctr">
                            <a:buNone/>
                          </a:pPr>
                          <a:r>
                            <a:rPr lang="en-GB" sz="2000" dirty="0">
                              <a:solidFill>
                                <a:schemeClr val="tx1"/>
                              </a:solidFill>
                              <a:effectLst/>
                              <a:latin typeface="+mj-lt"/>
                            </a:rPr>
                            <a:t>d</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a:solidFill>
                                <a:schemeClr val="tx1"/>
                              </a:solidFill>
                              <a:effectLst/>
                              <a:latin typeface="+mj-lt"/>
                            </a:rPr>
                            <a:t>45 mm</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62328147"/>
                      </a:ext>
                    </a:extLst>
                  </a:tr>
                  <a:tr h="274760">
                    <a:tc>
                      <a:txBody>
                        <a:bodyPr/>
                        <a:lstStyle/>
                        <a:p>
                          <a:pPr marL="0" marR="0" algn="ctr">
                            <a:buNone/>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effectLst/>
                                        <a:latin typeface="Cambria Math" panose="02040503050406030204" pitchFamily="18" charset="0"/>
                                      </a:rPr>
                                    </m:ctrlPr>
                                  </m:sSubPr>
                                  <m:e>
                                    <m:r>
                                      <a:rPr lang="en-GB" sz="2000">
                                        <a:solidFill>
                                          <a:schemeClr val="tx1"/>
                                        </a:solidFill>
                                        <a:effectLst/>
                                        <a:latin typeface="Cambria Math" panose="02040503050406030204" pitchFamily="18" charset="0"/>
                                      </a:rPr>
                                      <m:t>𝜎</m:t>
                                    </m:r>
                                  </m:e>
                                  <m:sub>
                                    <m:r>
                                      <a:rPr lang="en-GB" sz="2000">
                                        <a:solidFill>
                                          <a:schemeClr val="tx1"/>
                                        </a:solidFill>
                                        <a:effectLst/>
                                        <a:latin typeface="Cambria Math" panose="02040503050406030204" pitchFamily="18" charset="0"/>
                                      </a:rPr>
                                      <m:t>𝑚</m:t>
                                    </m:r>
                                  </m:sub>
                                </m:sSub>
                              </m:oMath>
                            </m:oMathPara>
                          </a14:m>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a:solidFill>
                                <a:schemeClr val="tx1"/>
                              </a:solidFill>
                              <a:effectLst/>
                              <a:latin typeface="+mj-lt"/>
                            </a:rPr>
                            <a:t>160.4 MPa</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52195088"/>
                      </a:ext>
                    </a:extLst>
                  </a:tr>
                  <a:tr h="274760">
                    <a:tc>
                      <a:txBody>
                        <a:bodyPr/>
                        <a:lstStyle/>
                        <a:p>
                          <a:pPr marL="0" marR="0" algn="ctr">
                            <a:buNone/>
                          </a:pPr>
                          <a:r>
                            <a:rPr lang="en-GB" sz="2000">
                              <a:solidFill>
                                <a:schemeClr val="tx1"/>
                              </a:solidFill>
                              <a:effectLst/>
                              <a:latin typeface="+mj-lt"/>
                            </a:rPr>
                            <a:t>F</a:t>
                          </a:r>
                          <a:r>
                            <a:rPr lang="en-GB" sz="2000" baseline="-25000">
                              <a:solidFill>
                                <a:schemeClr val="tx1"/>
                              </a:solidFill>
                              <a:effectLst/>
                              <a:latin typeface="+mj-lt"/>
                            </a:rPr>
                            <a:t>B</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dirty="0">
                              <a:solidFill>
                                <a:schemeClr val="tx1"/>
                              </a:solidFill>
                              <a:effectLst/>
                              <a:latin typeface="+mj-lt"/>
                            </a:rPr>
                            <a:t>3347.6625 N</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44119694"/>
                      </a:ext>
                    </a:extLst>
                  </a:tr>
                  <a:tr h="274760">
                    <a:tc>
                      <a:txBody>
                        <a:bodyPr/>
                        <a:lstStyle/>
                        <a:p>
                          <a:pPr marL="0" marR="0" algn="ctr">
                            <a:buNone/>
                          </a:pPr>
                          <a:r>
                            <a:rPr lang="en-GB" sz="2000">
                              <a:solidFill>
                                <a:schemeClr val="tx1"/>
                              </a:solidFill>
                              <a:effectLst/>
                              <a:latin typeface="+mj-lt"/>
                            </a:rPr>
                            <a:t>T</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a:solidFill>
                                <a:schemeClr val="tx1"/>
                              </a:solidFill>
                              <a:effectLst/>
                              <a:latin typeface="+mj-lt"/>
                            </a:rPr>
                            <a:t>1004.29875 Nm</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29905011"/>
                      </a:ext>
                    </a:extLst>
                  </a:tr>
                  <a:tr h="274760">
                    <a:tc>
                      <a:txBody>
                        <a:bodyPr/>
                        <a:lstStyle/>
                        <a:p>
                          <a:pPr marL="0" marR="0" algn="ctr">
                            <a:buNone/>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effectLst/>
                                        <a:latin typeface="Cambria Math" panose="02040503050406030204" pitchFamily="18" charset="0"/>
                                      </a:rPr>
                                    </m:ctrlPr>
                                  </m:sSubPr>
                                  <m:e>
                                    <m:r>
                                      <a:rPr lang="en-GB" sz="2000">
                                        <a:solidFill>
                                          <a:schemeClr val="tx1"/>
                                        </a:solidFill>
                                        <a:effectLst/>
                                        <a:latin typeface="Cambria Math" panose="02040503050406030204" pitchFamily="18" charset="0"/>
                                      </a:rPr>
                                      <m:t>𝜏</m:t>
                                    </m:r>
                                  </m:e>
                                  <m:sub>
                                    <m:r>
                                      <a:rPr lang="en-GB" sz="2000">
                                        <a:solidFill>
                                          <a:schemeClr val="tx1"/>
                                        </a:solidFill>
                                        <a:effectLst/>
                                        <a:latin typeface="Cambria Math" panose="02040503050406030204" pitchFamily="18" charset="0"/>
                                      </a:rPr>
                                      <m:t>𝑚</m:t>
                                    </m:r>
                                  </m:sub>
                                </m:sSub>
                              </m:oMath>
                            </m:oMathPara>
                          </a14:m>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dirty="0">
                              <a:solidFill>
                                <a:schemeClr val="tx1"/>
                              </a:solidFill>
                              <a:effectLst/>
                              <a:latin typeface="+mj-lt"/>
                            </a:rPr>
                            <a:t>56.1 MPa</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20761620"/>
                      </a:ext>
                    </a:extLst>
                  </a:tr>
                  <a:tr h="274760">
                    <a:tc>
                      <a:txBody>
                        <a:bodyPr/>
                        <a:lstStyle/>
                        <a:p>
                          <a:pPr marL="0" marR="0" algn="ctr">
                            <a:buNone/>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effectLst/>
                                        <a:latin typeface="Cambria Math" panose="02040503050406030204" pitchFamily="18" charset="0"/>
                                      </a:rPr>
                                    </m:ctrlPr>
                                  </m:sSubPr>
                                  <m:e>
                                    <m:r>
                                      <a:rPr lang="en-GB" sz="2000">
                                        <a:solidFill>
                                          <a:schemeClr val="tx1"/>
                                        </a:solidFill>
                                        <a:effectLst/>
                                        <a:latin typeface="Cambria Math" panose="02040503050406030204" pitchFamily="18" charset="0"/>
                                      </a:rPr>
                                      <m:t>𝜎</m:t>
                                    </m:r>
                                  </m:e>
                                  <m:sub>
                                    <m:r>
                                      <a:rPr lang="en-GB" sz="2000">
                                        <a:solidFill>
                                          <a:schemeClr val="tx1"/>
                                        </a:solidFill>
                                        <a:effectLst/>
                                        <a:latin typeface="Cambria Math" panose="02040503050406030204" pitchFamily="18" charset="0"/>
                                      </a:rPr>
                                      <m:t>𝑚𝑎𝑥</m:t>
                                    </m:r>
                                  </m:sub>
                                </m:sSub>
                              </m:oMath>
                            </m:oMathPara>
                          </a14:m>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a:solidFill>
                                <a:schemeClr val="tx1"/>
                              </a:solidFill>
                              <a:effectLst/>
                              <a:latin typeface="+mj-lt"/>
                            </a:rPr>
                            <a:t>-178.07 MPa</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83038903"/>
                      </a:ext>
                    </a:extLst>
                  </a:tr>
                  <a:tr h="274760">
                    <a:tc>
                      <a:txBody>
                        <a:bodyPr/>
                        <a:lstStyle/>
                        <a:p>
                          <a:pPr marL="0" marR="0" algn="ctr">
                            <a:buNone/>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effectLst/>
                                        <a:latin typeface="Cambria Math" panose="02040503050406030204" pitchFamily="18" charset="0"/>
                                      </a:rPr>
                                    </m:ctrlPr>
                                  </m:sSubPr>
                                  <m:e>
                                    <m:r>
                                      <a:rPr lang="en-GB" sz="2000">
                                        <a:solidFill>
                                          <a:schemeClr val="tx1"/>
                                        </a:solidFill>
                                        <a:effectLst/>
                                        <a:latin typeface="Cambria Math" panose="02040503050406030204" pitchFamily="18" charset="0"/>
                                      </a:rPr>
                                      <m:t>𝜎</m:t>
                                    </m:r>
                                  </m:e>
                                  <m:sub>
                                    <m:r>
                                      <a:rPr lang="en-GB" sz="2000">
                                        <a:solidFill>
                                          <a:schemeClr val="tx1"/>
                                        </a:solidFill>
                                        <a:effectLst/>
                                        <a:latin typeface="Cambria Math" panose="02040503050406030204" pitchFamily="18" charset="0"/>
                                      </a:rPr>
                                      <m:t>𝑚𝑖𝑛</m:t>
                                    </m:r>
                                  </m:sub>
                                </m:sSub>
                              </m:oMath>
                            </m:oMathPara>
                          </a14:m>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dirty="0">
                              <a:solidFill>
                                <a:schemeClr val="tx1"/>
                              </a:solidFill>
                              <a:effectLst/>
                              <a:latin typeface="+mj-lt"/>
                            </a:rPr>
                            <a:t>17.67 MPa</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14214241"/>
                      </a:ext>
                    </a:extLst>
                  </a:tr>
                  <a:tr h="274760">
                    <a:tc>
                      <a:txBody>
                        <a:bodyPr/>
                        <a:lstStyle/>
                        <a:p>
                          <a:pPr marL="0" marR="0" algn="ctr">
                            <a:buNone/>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effectLst/>
                                        <a:latin typeface="Cambria Math" panose="02040503050406030204" pitchFamily="18" charset="0"/>
                                      </a:rPr>
                                    </m:ctrlPr>
                                  </m:sSubPr>
                                  <m:e>
                                    <m:r>
                                      <a:rPr lang="en-GB" sz="2000">
                                        <a:solidFill>
                                          <a:schemeClr val="tx1"/>
                                        </a:solidFill>
                                        <a:effectLst/>
                                        <a:latin typeface="Cambria Math" panose="02040503050406030204" pitchFamily="18" charset="0"/>
                                      </a:rPr>
                                      <m:t>𝜏</m:t>
                                    </m:r>
                                  </m:e>
                                  <m:sub>
                                    <m:r>
                                      <a:rPr lang="en-GB" sz="2000">
                                        <a:solidFill>
                                          <a:schemeClr val="tx1"/>
                                        </a:solidFill>
                                        <a:effectLst/>
                                        <a:latin typeface="Cambria Math" panose="02040503050406030204" pitchFamily="18" charset="0"/>
                                      </a:rPr>
                                      <m:t>𝑚𝑎𝑥</m:t>
                                    </m:r>
                                  </m:sub>
                                </m:sSub>
                              </m:oMath>
                            </m:oMathPara>
                          </a14:m>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dirty="0">
                              <a:solidFill>
                                <a:schemeClr val="tx1"/>
                              </a:solidFill>
                              <a:effectLst/>
                              <a:latin typeface="+mj-lt"/>
                            </a:rPr>
                            <a:t>97.87 MPa</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66540048"/>
                      </a:ext>
                    </a:extLst>
                  </a:tr>
                  <a:tr h="274760">
                    <a:tc>
                      <a:txBody>
                        <a:bodyPr/>
                        <a:lstStyle/>
                        <a:p>
                          <a:pPr marL="0" marR="0" algn="ctr">
                            <a:buNone/>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effectLst/>
                                        <a:latin typeface="Cambria Math" panose="02040503050406030204" pitchFamily="18" charset="0"/>
                                      </a:rPr>
                                    </m:ctrlPr>
                                  </m:sSubPr>
                                  <m:e>
                                    <m:r>
                                      <a:rPr lang="en-GB" sz="2000">
                                        <a:solidFill>
                                          <a:schemeClr val="tx1"/>
                                        </a:solidFill>
                                        <a:effectLst/>
                                        <a:latin typeface="Cambria Math" panose="02040503050406030204" pitchFamily="18" charset="0"/>
                                      </a:rPr>
                                      <m:t>𝜃</m:t>
                                    </m:r>
                                  </m:e>
                                  <m:sub>
                                    <m:r>
                                      <a:rPr lang="en-GB" sz="2000">
                                        <a:solidFill>
                                          <a:schemeClr val="tx1"/>
                                        </a:solidFill>
                                        <a:effectLst/>
                                        <a:latin typeface="Cambria Math" panose="02040503050406030204" pitchFamily="18" charset="0"/>
                                      </a:rPr>
                                      <m:t>𝑃</m:t>
                                    </m:r>
                                  </m:sub>
                                </m:sSub>
                              </m:oMath>
                            </m:oMathPara>
                          </a14:m>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dirty="0">
                              <a:solidFill>
                                <a:schemeClr val="tx1"/>
                              </a:solidFill>
                              <a:effectLst/>
                              <a:latin typeface="+mj-lt"/>
                            </a:rPr>
                            <a:t>35.36</a:t>
                          </a:r>
                          <a:r>
                            <a:rPr lang="en-GB" sz="2000" baseline="30000" dirty="0">
                              <a:solidFill>
                                <a:schemeClr val="tx1"/>
                              </a:solidFill>
                              <a:effectLst/>
                              <a:latin typeface="+mj-lt"/>
                            </a:rPr>
                            <a:t>o</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40133590"/>
                      </a:ext>
                    </a:extLst>
                  </a:tr>
                </a:tbl>
              </a:graphicData>
            </a:graphic>
          </p:graphicFrame>
        </mc:Choice>
        <mc:Fallback xmlns="">
          <p:graphicFrame>
            <p:nvGraphicFramePr>
              <p:cNvPr id="4" name="Content Placeholder 3">
                <a:extLst>
                  <a:ext uri="{FF2B5EF4-FFF2-40B4-BE49-F238E27FC236}">
                    <a16:creationId xmlns:a16="http://schemas.microsoft.com/office/drawing/2014/main" id="{62B8D037-FB1E-DC8B-5B6C-7F5359522176}"/>
                  </a:ext>
                </a:extLst>
              </p:cNvPr>
              <p:cNvGraphicFramePr>
                <a:graphicFrameLocks noGrp="1"/>
              </p:cNvGraphicFramePr>
              <p:nvPr>
                <p:ph idx="1"/>
                <p:extLst>
                  <p:ext uri="{D42A27DB-BD31-4B8C-83A1-F6EECF244321}">
                    <p14:modId xmlns:p14="http://schemas.microsoft.com/office/powerpoint/2010/main" val="1226509895"/>
                  </p:ext>
                </p:extLst>
              </p:nvPr>
            </p:nvGraphicFramePr>
            <p:xfrm>
              <a:off x="1466850" y="2143125"/>
              <a:ext cx="9315450" cy="3962400"/>
            </p:xfrm>
            <a:graphic>
              <a:graphicData uri="http://schemas.openxmlformats.org/drawingml/2006/table">
                <a:tbl>
                  <a:tblPr firstRow="1" firstCol="1" bandRow="1">
                    <a:tableStyleId>{5940675A-B579-460E-94D1-54222C63F5DA}</a:tableStyleId>
                  </a:tblPr>
                  <a:tblGrid>
                    <a:gridCol w="4657725">
                      <a:extLst>
                        <a:ext uri="{9D8B030D-6E8A-4147-A177-3AD203B41FA5}">
                          <a16:colId xmlns:a16="http://schemas.microsoft.com/office/drawing/2014/main" val="3828943073"/>
                        </a:ext>
                      </a:extLst>
                    </a:gridCol>
                    <a:gridCol w="4657725">
                      <a:extLst>
                        <a:ext uri="{9D8B030D-6E8A-4147-A177-3AD203B41FA5}">
                          <a16:colId xmlns:a16="http://schemas.microsoft.com/office/drawing/2014/main" val="2516708153"/>
                        </a:ext>
                      </a:extLst>
                    </a:gridCol>
                  </a:tblGrid>
                  <a:tr h="304800">
                    <a:tc>
                      <a:txBody>
                        <a:bodyPr/>
                        <a:lstStyle/>
                        <a:p>
                          <a:pPr marL="0" marR="0" algn="ctr">
                            <a:buNone/>
                          </a:pPr>
                          <a:r>
                            <a:rPr lang="en-GB" sz="2000" dirty="0">
                              <a:solidFill>
                                <a:schemeClr val="tx1"/>
                              </a:solidFill>
                              <a:effectLst/>
                              <a:latin typeface="+mj-lt"/>
                            </a:rPr>
                            <a:t>V</a:t>
                          </a:r>
                          <a:r>
                            <a:rPr lang="en-GB" sz="2000" baseline="-25000" dirty="0">
                              <a:solidFill>
                                <a:schemeClr val="tx1"/>
                              </a:solidFill>
                              <a:effectLst/>
                              <a:latin typeface="+mj-lt"/>
                            </a:rPr>
                            <a:t>max</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a:solidFill>
                                <a:schemeClr val="tx1"/>
                              </a:solidFill>
                              <a:effectLst/>
                              <a:latin typeface="+mj-lt"/>
                            </a:rPr>
                            <a:t>4782.375 N</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54200490"/>
                      </a:ext>
                    </a:extLst>
                  </a:tr>
                  <a:tr h="304800">
                    <a:tc>
                      <a:txBody>
                        <a:bodyPr/>
                        <a:lstStyle/>
                        <a:p>
                          <a:pPr marL="0" marR="0" algn="ctr">
                            <a:buNone/>
                          </a:pPr>
                          <a:r>
                            <a:rPr lang="en-GB" sz="2000" dirty="0" err="1">
                              <a:solidFill>
                                <a:schemeClr val="tx1"/>
                              </a:solidFill>
                              <a:effectLst/>
                              <a:latin typeface="+mj-lt"/>
                            </a:rPr>
                            <a:t>M</a:t>
                          </a:r>
                          <a:r>
                            <a:rPr lang="en-GB" sz="2000" baseline="-25000" dirty="0" err="1">
                              <a:solidFill>
                                <a:schemeClr val="tx1"/>
                              </a:solidFill>
                              <a:effectLst/>
                              <a:latin typeface="+mj-lt"/>
                            </a:rPr>
                            <a:t>max</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a:solidFill>
                                <a:schemeClr val="tx1"/>
                              </a:solidFill>
                              <a:effectLst/>
                              <a:latin typeface="+mj-lt"/>
                            </a:rPr>
                            <a:t>1434.7125 Nm</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78433487"/>
                      </a:ext>
                    </a:extLst>
                  </a:tr>
                  <a:tr h="304800">
                    <a:tc>
                      <a:txBody>
                        <a:bodyPr/>
                        <a:lstStyle/>
                        <a:p>
                          <a:endParaRPr lang="en-US"/>
                        </a:p>
                      </a:txBody>
                      <a:tcPr marL="68580" marR="68580" marT="0" marB="0" anchor="ctr">
                        <a:blipFill>
                          <a:blip r:embed="rId2"/>
                          <a:stretch>
                            <a:fillRect l="-131" t="-224000" r="-100131" b="-1052000"/>
                          </a:stretch>
                        </a:blipFill>
                      </a:tcPr>
                    </a:tc>
                    <a:tc>
                      <a:txBody>
                        <a:bodyPr/>
                        <a:lstStyle/>
                        <a:p>
                          <a:pPr marL="0" marR="0" algn="ctr">
                            <a:buNone/>
                          </a:pPr>
                          <a:r>
                            <a:rPr lang="en-GB" sz="2000">
                              <a:solidFill>
                                <a:schemeClr val="tx1"/>
                              </a:solidFill>
                              <a:effectLst/>
                              <a:latin typeface="+mj-lt"/>
                            </a:rPr>
                            <a:t>166 MPa</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95237338"/>
                      </a:ext>
                    </a:extLst>
                  </a:tr>
                  <a:tr h="304800">
                    <a:tc>
                      <a:txBody>
                        <a:bodyPr/>
                        <a:lstStyle/>
                        <a:p>
                          <a:endParaRPr lang="en-US"/>
                        </a:p>
                      </a:txBody>
                      <a:tcPr marL="68580" marR="68580" marT="0" marB="0" anchor="ctr">
                        <a:blipFill>
                          <a:blip r:embed="rId2"/>
                          <a:stretch>
                            <a:fillRect l="-131" t="-324000" r="-100131" b="-952000"/>
                          </a:stretch>
                        </a:blipFill>
                      </a:tcPr>
                    </a:tc>
                    <a:tc>
                      <a:txBody>
                        <a:bodyPr/>
                        <a:lstStyle/>
                        <a:p>
                          <a:pPr marL="0" marR="0" algn="ctr">
                            <a:buNone/>
                          </a:pPr>
                          <a:r>
                            <a:rPr lang="en-GB" sz="2000">
                              <a:solidFill>
                                <a:schemeClr val="tx1"/>
                              </a:solidFill>
                              <a:effectLst/>
                              <a:latin typeface="+mj-lt"/>
                            </a:rPr>
                            <a:t>96 MPa</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98268061"/>
                      </a:ext>
                    </a:extLst>
                  </a:tr>
                  <a:tr h="304800">
                    <a:tc>
                      <a:txBody>
                        <a:bodyPr/>
                        <a:lstStyle/>
                        <a:p>
                          <a:pPr marL="0" marR="0" algn="ctr">
                            <a:buNone/>
                          </a:pPr>
                          <a:r>
                            <a:rPr lang="en-GB" sz="2000" dirty="0">
                              <a:solidFill>
                                <a:schemeClr val="tx1"/>
                              </a:solidFill>
                              <a:effectLst/>
                              <a:latin typeface="+mj-lt"/>
                            </a:rPr>
                            <a:t>d</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a:solidFill>
                                <a:schemeClr val="tx1"/>
                              </a:solidFill>
                              <a:effectLst/>
                              <a:latin typeface="+mj-lt"/>
                            </a:rPr>
                            <a:t>45 mm</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62328147"/>
                      </a:ext>
                    </a:extLst>
                  </a:tr>
                  <a:tr h="304800">
                    <a:tc>
                      <a:txBody>
                        <a:bodyPr/>
                        <a:lstStyle/>
                        <a:p>
                          <a:endParaRPr lang="en-US"/>
                        </a:p>
                      </a:txBody>
                      <a:tcPr marL="68580" marR="68580" marT="0" marB="0" anchor="ctr">
                        <a:blipFill>
                          <a:blip r:embed="rId2"/>
                          <a:stretch>
                            <a:fillRect l="-131" t="-524000" r="-100131" b="-752000"/>
                          </a:stretch>
                        </a:blipFill>
                      </a:tcPr>
                    </a:tc>
                    <a:tc>
                      <a:txBody>
                        <a:bodyPr/>
                        <a:lstStyle/>
                        <a:p>
                          <a:pPr marL="0" marR="0" algn="ctr">
                            <a:buNone/>
                          </a:pPr>
                          <a:r>
                            <a:rPr lang="en-GB" sz="2000">
                              <a:solidFill>
                                <a:schemeClr val="tx1"/>
                              </a:solidFill>
                              <a:effectLst/>
                              <a:latin typeface="+mj-lt"/>
                            </a:rPr>
                            <a:t>160.4 MPa</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52195088"/>
                      </a:ext>
                    </a:extLst>
                  </a:tr>
                  <a:tr h="304800">
                    <a:tc>
                      <a:txBody>
                        <a:bodyPr/>
                        <a:lstStyle/>
                        <a:p>
                          <a:pPr marL="0" marR="0" algn="ctr">
                            <a:buNone/>
                          </a:pPr>
                          <a:r>
                            <a:rPr lang="en-GB" sz="2000">
                              <a:solidFill>
                                <a:schemeClr val="tx1"/>
                              </a:solidFill>
                              <a:effectLst/>
                              <a:latin typeface="+mj-lt"/>
                            </a:rPr>
                            <a:t>F</a:t>
                          </a:r>
                          <a:r>
                            <a:rPr lang="en-GB" sz="2000" baseline="-25000">
                              <a:solidFill>
                                <a:schemeClr val="tx1"/>
                              </a:solidFill>
                              <a:effectLst/>
                              <a:latin typeface="+mj-lt"/>
                            </a:rPr>
                            <a:t>B</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dirty="0">
                              <a:solidFill>
                                <a:schemeClr val="tx1"/>
                              </a:solidFill>
                              <a:effectLst/>
                              <a:latin typeface="+mj-lt"/>
                            </a:rPr>
                            <a:t>3347.6625 N</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44119694"/>
                      </a:ext>
                    </a:extLst>
                  </a:tr>
                  <a:tr h="304800">
                    <a:tc>
                      <a:txBody>
                        <a:bodyPr/>
                        <a:lstStyle/>
                        <a:p>
                          <a:pPr marL="0" marR="0" algn="ctr">
                            <a:buNone/>
                          </a:pPr>
                          <a:r>
                            <a:rPr lang="en-GB" sz="2000">
                              <a:solidFill>
                                <a:schemeClr val="tx1"/>
                              </a:solidFill>
                              <a:effectLst/>
                              <a:latin typeface="+mj-lt"/>
                            </a:rPr>
                            <a:t>T</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GB" sz="2000">
                              <a:solidFill>
                                <a:schemeClr val="tx1"/>
                              </a:solidFill>
                              <a:effectLst/>
                              <a:latin typeface="+mj-lt"/>
                            </a:rPr>
                            <a:t>1004.29875 Nm</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29905011"/>
                      </a:ext>
                    </a:extLst>
                  </a:tr>
                  <a:tr h="304800">
                    <a:tc>
                      <a:txBody>
                        <a:bodyPr/>
                        <a:lstStyle/>
                        <a:p>
                          <a:endParaRPr lang="en-US"/>
                        </a:p>
                      </a:txBody>
                      <a:tcPr marL="68580" marR="68580" marT="0" marB="0" anchor="ctr">
                        <a:blipFill>
                          <a:blip r:embed="rId2"/>
                          <a:stretch>
                            <a:fillRect l="-131" t="-826000" r="-100131" b="-450000"/>
                          </a:stretch>
                        </a:blipFill>
                      </a:tcPr>
                    </a:tc>
                    <a:tc>
                      <a:txBody>
                        <a:bodyPr/>
                        <a:lstStyle/>
                        <a:p>
                          <a:pPr marL="0" marR="0" algn="ctr">
                            <a:buNone/>
                          </a:pPr>
                          <a:r>
                            <a:rPr lang="en-GB" sz="2000" dirty="0">
                              <a:solidFill>
                                <a:schemeClr val="tx1"/>
                              </a:solidFill>
                              <a:effectLst/>
                              <a:latin typeface="+mj-lt"/>
                            </a:rPr>
                            <a:t>56.1 MPa</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20761620"/>
                      </a:ext>
                    </a:extLst>
                  </a:tr>
                  <a:tr h="304800">
                    <a:tc>
                      <a:txBody>
                        <a:bodyPr/>
                        <a:lstStyle/>
                        <a:p>
                          <a:endParaRPr lang="en-US"/>
                        </a:p>
                      </a:txBody>
                      <a:tcPr marL="68580" marR="68580" marT="0" marB="0" anchor="ctr">
                        <a:blipFill>
                          <a:blip r:embed="rId2"/>
                          <a:stretch>
                            <a:fillRect l="-131" t="-926000" r="-100131" b="-350000"/>
                          </a:stretch>
                        </a:blipFill>
                      </a:tcPr>
                    </a:tc>
                    <a:tc>
                      <a:txBody>
                        <a:bodyPr/>
                        <a:lstStyle/>
                        <a:p>
                          <a:pPr marL="0" marR="0" algn="ctr">
                            <a:buNone/>
                          </a:pPr>
                          <a:r>
                            <a:rPr lang="en-GB" sz="2000">
                              <a:solidFill>
                                <a:schemeClr val="tx1"/>
                              </a:solidFill>
                              <a:effectLst/>
                              <a:latin typeface="+mj-lt"/>
                            </a:rPr>
                            <a:t>-178.07 MPa</a:t>
                          </a:r>
                          <a:endParaRPr lang="en-US" sz="200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83038903"/>
                      </a:ext>
                    </a:extLst>
                  </a:tr>
                  <a:tr h="304800">
                    <a:tc>
                      <a:txBody>
                        <a:bodyPr/>
                        <a:lstStyle/>
                        <a:p>
                          <a:endParaRPr lang="en-US"/>
                        </a:p>
                      </a:txBody>
                      <a:tcPr marL="68580" marR="68580" marT="0" marB="0" anchor="ctr">
                        <a:blipFill>
                          <a:blip r:embed="rId2"/>
                          <a:stretch>
                            <a:fillRect l="-131" t="-1026000" r="-100131" b="-250000"/>
                          </a:stretch>
                        </a:blipFill>
                      </a:tcPr>
                    </a:tc>
                    <a:tc>
                      <a:txBody>
                        <a:bodyPr/>
                        <a:lstStyle/>
                        <a:p>
                          <a:pPr marL="0" marR="0" algn="ctr">
                            <a:buNone/>
                          </a:pPr>
                          <a:r>
                            <a:rPr lang="en-GB" sz="2000" dirty="0">
                              <a:solidFill>
                                <a:schemeClr val="tx1"/>
                              </a:solidFill>
                              <a:effectLst/>
                              <a:latin typeface="+mj-lt"/>
                            </a:rPr>
                            <a:t>17.67 MPa</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14214241"/>
                      </a:ext>
                    </a:extLst>
                  </a:tr>
                  <a:tr h="304800">
                    <a:tc>
                      <a:txBody>
                        <a:bodyPr/>
                        <a:lstStyle/>
                        <a:p>
                          <a:endParaRPr lang="en-US"/>
                        </a:p>
                      </a:txBody>
                      <a:tcPr marL="68580" marR="68580" marT="0" marB="0" anchor="ctr">
                        <a:blipFill>
                          <a:blip r:embed="rId2"/>
                          <a:stretch>
                            <a:fillRect l="-131" t="-1126000" r="-100131" b="-150000"/>
                          </a:stretch>
                        </a:blipFill>
                      </a:tcPr>
                    </a:tc>
                    <a:tc>
                      <a:txBody>
                        <a:bodyPr/>
                        <a:lstStyle/>
                        <a:p>
                          <a:pPr marL="0" marR="0" algn="ctr">
                            <a:buNone/>
                          </a:pPr>
                          <a:r>
                            <a:rPr lang="en-GB" sz="2000" dirty="0">
                              <a:solidFill>
                                <a:schemeClr val="tx1"/>
                              </a:solidFill>
                              <a:effectLst/>
                              <a:latin typeface="+mj-lt"/>
                            </a:rPr>
                            <a:t>97.87 MPa</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66540048"/>
                      </a:ext>
                    </a:extLst>
                  </a:tr>
                  <a:tr h="304800">
                    <a:tc>
                      <a:txBody>
                        <a:bodyPr/>
                        <a:lstStyle/>
                        <a:p>
                          <a:endParaRPr lang="en-US"/>
                        </a:p>
                      </a:txBody>
                      <a:tcPr marL="68580" marR="68580" marT="0" marB="0" anchor="ctr">
                        <a:blipFill>
                          <a:blip r:embed="rId2"/>
                          <a:stretch>
                            <a:fillRect l="-131" t="-1226000" r="-100131" b="-50000"/>
                          </a:stretch>
                        </a:blipFill>
                      </a:tcPr>
                    </a:tc>
                    <a:tc>
                      <a:txBody>
                        <a:bodyPr/>
                        <a:lstStyle/>
                        <a:p>
                          <a:pPr marL="0" marR="0" algn="ctr">
                            <a:buNone/>
                          </a:pPr>
                          <a:r>
                            <a:rPr lang="en-GB" sz="2000" dirty="0">
                              <a:solidFill>
                                <a:schemeClr val="tx1"/>
                              </a:solidFill>
                              <a:effectLst/>
                              <a:latin typeface="+mj-lt"/>
                            </a:rPr>
                            <a:t>35.36</a:t>
                          </a:r>
                          <a:r>
                            <a:rPr lang="en-GB" sz="2000" baseline="30000" dirty="0">
                              <a:solidFill>
                                <a:schemeClr val="tx1"/>
                              </a:solidFill>
                              <a:effectLst/>
                              <a:latin typeface="+mj-lt"/>
                            </a:rPr>
                            <a:t>o</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40133590"/>
                      </a:ext>
                    </a:extLst>
                  </a:tr>
                </a:tbl>
              </a:graphicData>
            </a:graphic>
          </p:graphicFrame>
        </mc:Fallback>
      </mc:AlternateContent>
      <p:sp>
        <p:nvSpPr>
          <p:cNvPr id="3" name="Slide Number Placeholder 2">
            <a:extLst>
              <a:ext uri="{FF2B5EF4-FFF2-40B4-BE49-F238E27FC236}">
                <a16:creationId xmlns:a16="http://schemas.microsoft.com/office/drawing/2014/main" id="{FC296119-72A2-E424-AAC5-9063B653D81C}"/>
              </a:ext>
            </a:extLst>
          </p:cNvPr>
          <p:cNvSpPr>
            <a:spLocks noGrp="1"/>
          </p:cNvSpPr>
          <p:nvPr>
            <p:ph type="sldNum" sz="quarter" idx="12"/>
          </p:nvPr>
        </p:nvSpPr>
        <p:spPr/>
        <p:txBody>
          <a:bodyPr/>
          <a:lstStyle/>
          <a:p>
            <a:fld id="{5D84065D-F351-4B03-BD91-D8A6B8D4B362}" type="slidenum">
              <a:rPr lang="en-US" smtClean="0"/>
              <a:t>24</a:t>
            </a:fld>
            <a:endParaRPr lang="en-US" dirty="0"/>
          </a:p>
        </p:txBody>
      </p:sp>
      <p:sp>
        <p:nvSpPr>
          <p:cNvPr id="5" name="Date Placeholder 4">
            <a:extLst>
              <a:ext uri="{FF2B5EF4-FFF2-40B4-BE49-F238E27FC236}">
                <a16:creationId xmlns:a16="http://schemas.microsoft.com/office/drawing/2014/main" id="{5102263C-973F-52D7-C20F-DBA35892CD92}"/>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1316631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096E7-8BE0-E4E8-E6B3-9138183FE6DF}"/>
              </a:ext>
            </a:extLst>
          </p:cNvPr>
          <p:cNvSpPr>
            <a:spLocks noGrp="1"/>
          </p:cNvSpPr>
          <p:nvPr>
            <p:ph type="title"/>
          </p:nvPr>
        </p:nvSpPr>
        <p:spPr/>
        <p:txBody>
          <a:bodyPr/>
          <a:lstStyle/>
          <a:p>
            <a:r>
              <a:rPr lang="en-US" dirty="0"/>
              <a:t>Error Correction </a:t>
            </a:r>
          </a:p>
        </p:txBody>
      </p:sp>
      <p:sp>
        <p:nvSpPr>
          <p:cNvPr id="3" name="Content Placeholder 2">
            <a:extLst>
              <a:ext uri="{FF2B5EF4-FFF2-40B4-BE49-F238E27FC236}">
                <a16:creationId xmlns:a16="http://schemas.microsoft.com/office/drawing/2014/main" id="{6C174DA6-E1F3-721F-F006-8654B967D7EB}"/>
              </a:ext>
            </a:extLst>
          </p:cNvPr>
          <p:cNvSpPr>
            <a:spLocks noGrp="1"/>
          </p:cNvSpPr>
          <p:nvPr>
            <p:ph idx="1"/>
          </p:nvPr>
        </p:nvSpPr>
        <p:spPr/>
        <p:txBody>
          <a:bodyPr/>
          <a:lstStyle/>
          <a:p>
            <a:r>
              <a:rPr lang="en-US" dirty="0"/>
              <a:t>The FOS we selected was failed for principal stresses and then we assume the FOS = 2.3 which makes the beam safe when d = 45 mm.</a:t>
            </a:r>
          </a:p>
          <a:p>
            <a:endParaRPr lang="en-US" dirty="0"/>
          </a:p>
          <a:p>
            <a:endParaRPr lang="en-US" dirty="0"/>
          </a:p>
          <a:p>
            <a:endParaRPr lang="en-US" dirty="0"/>
          </a:p>
          <a:p>
            <a:endParaRPr lang="en-US"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8B3605F8-1279-44A2-AC3A-45A072995740}"/>
                  </a:ext>
                </a:extLst>
              </p:cNvPr>
              <p:cNvGraphicFramePr>
                <a:graphicFrameLocks noGrp="1"/>
              </p:cNvGraphicFramePr>
              <p:nvPr>
                <p:extLst>
                  <p:ext uri="{D42A27DB-BD31-4B8C-83A1-F6EECF244321}">
                    <p14:modId xmlns:p14="http://schemas.microsoft.com/office/powerpoint/2010/main" val="2383398"/>
                  </p:ext>
                </p:extLst>
              </p:nvPr>
            </p:nvGraphicFramePr>
            <p:xfrm>
              <a:off x="1774825" y="3520016"/>
              <a:ext cx="8128000" cy="1356742"/>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427893141"/>
                        </a:ext>
                      </a:extLst>
                    </a:gridCol>
                    <a:gridCol w="4064000">
                      <a:extLst>
                        <a:ext uri="{9D8B030D-6E8A-4147-A177-3AD203B41FA5}">
                          <a16:colId xmlns:a16="http://schemas.microsoft.com/office/drawing/2014/main" val="3897308407"/>
                        </a:ext>
                      </a:extLst>
                    </a:gridCol>
                  </a:tblGrid>
                  <a:tr h="370840">
                    <a:tc gridSpan="2">
                      <a:txBody>
                        <a:bodyPr/>
                        <a:lstStyle/>
                        <a:p>
                          <a:pPr algn="ctr"/>
                          <a:r>
                            <a:rPr lang="en-US" dirty="0"/>
                            <a:t>Allowable Stresses</a:t>
                          </a:r>
                        </a:p>
                      </a:txBody>
                      <a:tcPr anchor="ctr"/>
                    </a:tc>
                    <a:tc hMerge="1">
                      <a:txBody>
                        <a:bodyPr/>
                        <a:lstStyle/>
                        <a:p>
                          <a:endParaRPr lang="en-US" dirty="0"/>
                        </a:p>
                      </a:txBody>
                      <a:tcPr/>
                    </a:tc>
                    <a:extLst>
                      <a:ext uri="{0D108BD9-81ED-4DB2-BD59-A6C34878D82A}">
                        <a16:rowId xmlns:a16="http://schemas.microsoft.com/office/drawing/2014/main" val="1728630647"/>
                      </a:ext>
                    </a:extLst>
                  </a:tr>
                  <a:tr h="370840">
                    <a:tc>
                      <a:txBody>
                        <a:bodyPr/>
                        <a:lstStyle/>
                        <a:p>
                          <a:pPr marL="0" marR="0" algn="ctr">
                            <a:lnSpc>
                              <a:spcPct val="107000"/>
                            </a:lnSpc>
                            <a:spcAft>
                              <a:spcPts val="800"/>
                            </a:spcAft>
                            <a:buNone/>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40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GB" sz="2400" i="1">
                                        <a:effectLst/>
                                        <a:latin typeface="Cambria Math" panose="02040503050406030204" pitchFamily="18" charset="0"/>
                                        <a:ea typeface="Calibri" panose="020F0502020204030204" pitchFamily="34" charset="0"/>
                                        <a:cs typeface="Times New Roman" panose="02020603050405020304" pitchFamily="18" charset="0"/>
                                      </a:rPr>
                                      <m:t>𝑎𝑙𝑙𝑜𝑤𝑎𝑏𝑙𝑒</m:t>
                                    </m:r>
                                  </m:sub>
                                </m:sSub>
                              </m:oMath>
                            </m:oMathPara>
                          </a14:m>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GB" sz="2400">
                              <a:effectLst/>
                              <a:latin typeface="Times New Roman" panose="02020603050405020304" pitchFamily="18" charset="0"/>
                              <a:ea typeface="Times New Roman" panose="02020603050405020304" pitchFamily="18" charset="0"/>
                              <a:cs typeface="Times New Roman" panose="02020603050405020304" pitchFamily="18" charset="0"/>
                            </a:rPr>
                            <a:t>180.4 MPa</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75409365"/>
                      </a:ext>
                    </a:extLst>
                  </a:tr>
                  <a:tr h="370840">
                    <a:tc>
                      <a:txBody>
                        <a:bodyPr/>
                        <a:lstStyle/>
                        <a:p>
                          <a:pPr marL="0" marR="0" algn="ctr">
                            <a:lnSpc>
                              <a:spcPct val="107000"/>
                            </a:lnSpc>
                            <a:spcAft>
                              <a:spcPts val="800"/>
                            </a:spcAft>
                            <a:buNone/>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400" i="1">
                                        <a:effectLst/>
                                        <a:latin typeface="Cambria Math" panose="02040503050406030204" pitchFamily="18" charset="0"/>
                                        <a:ea typeface="Calibri" panose="020F0502020204030204" pitchFamily="34" charset="0"/>
                                        <a:cs typeface="Times New Roman" panose="02020603050405020304" pitchFamily="18" charset="0"/>
                                      </a:rPr>
                                      <m:t>𝜏</m:t>
                                    </m:r>
                                  </m:e>
                                  <m:sub>
                                    <m:r>
                                      <a:rPr lang="en-GB" sz="2400" i="1">
                                        <a:effectLst/>
                                        <a:latin typeface="Cambria Math" panose="02040503050406030204" pitchFamily="18" charset="0"/>
                                        <a:ea typeface="Calibri" panose="020F0502020204030204" pitchFamily="34" charset="0"/>
                                        <a:cs typeface="Times New Roman" panose="02020603050405020304" pitchFamily="18" charset="0"/>
                                      </a:rPr>
                                      <m:t>𝑎𝑙𝑙𝑜𝑤𝑎𝑏𝑙𝑒</m:t>
                                    </m:r>
                                  </m:sub>
                                </m:sSub>
                              </m:oMath>
                            </m:oMathPara>
                          </a14:m>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104.3 MPa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96362683"/>
                      </a:ext>
                    </a:extLst>
                  </a:tr>
                </a:tbl>
              </a:graphicData>
            </a:graphic>
          </p:graphicFrame>
        </mc:Choice>
        <mc:Fallback xmlns="">
          <p:graphicFrame>
            <p:nvGraphicFramePr>
              <p:cNvPr id="4" name="Table 3">
                <a:extLst>
                  <a:ext uri="{FF2B5EF4-FFF2-40B4-BE49-F238E27FC236}">
                    <a16:creationId xmlns:a16="http://schemas.microsoft.com/office/drawing/2014/main" id="{8B3605F8-1279-44A2-AC3A-45A072995740}"/>
                  </a:ext>
                </a:extLst>
              </p:cNvPr>
              <p:cNvGraphicFramePr>
                <a:graphicFrameLocks noGrp="1"/>
              </p:cNvGraphicFramePr>
              <p:nvPr>
                <p:extLst>
                  <p:ext uri="{D42A27DB-BD31-4B8C-83A1-F6EECF244321}">
                    <p14:modId xmlns:p14="http://schemas.microsoft.com/office/powerpoint/2010/main" val="2383398"/>
                  </p:ext>
                </p:extLst>
              </p:nvPr>
            </p:nvGraphicFramePr>
            <p:xfrm>
              <a:off x="1774825" y="3520016"/>
              <a:ext cx="8128000" cy="1356742"/>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427893141"/>
                        </a:ext>
                      </a:extLst>
                    </a:gridCol>
                    <a:gridCol w="4064000">
                      <a:extLst>
                        <a:ext uri="{9D8B030D-6E8A-4147-A177-3AD203B41FA5}">
                          <a16:colId xmlns:a16="http://schemas.microsoft.com/office/drawing/2014/main" val="3897308407"/>
                        </a:ext>
                      </a:extLst>
                    </a:gridCol>
                  </a:tblGrid>
                  <a:tr h="370840">
                    <a:tc gridSpan="2">
                      <a:txBody>
                        <a:bodyPr/>
                        <a:lstStyle/>
                        <a:p>
                          <a:pPr algn="ctr"/>
                          <a:r>
                            <a:rPr lang="en-US" dirty="0"/>
                            <a:t>Allowable Stresses</a:t>
                          </a:r>
                        </a:p>
                      </a:txBody>
                      <a:tcPr anchor="ctr"/>
                    </a:tc>
                    <a:tc hMerge="1">
                      <a:txBody>
                        <a:bodyPr/>
                        <a:lstStyle/>
                        <a:p>
                          <a:endParaRPr lang="en-US" dirty="0"/>
                        </a:p>
                      </a:txBody>
                      <a:tcPr/>
                    </a:tc>
                    <a:extLst>
                      <a:ext uri="{0D108BD9-81ED-4DB2-BD59-A6C34878D82A}">
                        <a16:rowId xmlns:a16="http://schemas.microsoft.com/office/drawing/2014/main" val="1728630647"/>
                      </a:ext>
                    </a:extLst>
                  </a:tr>
                  <a:tr h="492951">
                    <a:tc>
                      <a:txBody>
                        <a:bodyPr/>
                        <a:lstStyle/>
                        <a:p>
                          <a:endParaRPr lang="en-US"/>
                        </a:p>
                      </a:txBody>
                      <a:tcPr marL="68580" marR="68580" marT="0" marB="0">
                        <a:blipFill>
                          <a:blip r:embed="rId2"/>
                          <a:stretch>
                            <a:fillRect l="-150" t="-81481" r="-100300" b="-124691"/>
                          </a:stretch>
                        </a:blipFill>
                      </a:tcPr>
                    </a:tc>
                    <a:tc>
                      <a:txBody>
                        <a:bodyPr/>
                        <a:lstStyle/>
                        <a:p>
                          <a:pPr marL="0" marR="0" algn="ctr">
                            <a:lnSpc>
                              <a:spcPct val="107000"/>
                            </a:lnSpc>
                            <a:spcAft>
                              <a:spcPts val="800"/>
                            </a:spcAft>
                            <a:buNone/>
                          </a:pPr>
                          <a:r>
                            <a:rPr lang="en-GB" sz="2400">
                              <a:effectLst/>
                              <a:latin typeface="Times New Roman" panose="02020603050405020304" pitchFamily="18" charset="0"/>
                              <a:ea typeface="Times New Roman" panose="02020603050405020304" pitchFamily="18" charset="0"/>
                              <a:cs typeface="Times New Roman" panose="02020603050405020304" pitchFamily="18" charset="0"/>
                            </a:rPr>
                            <a:t>180.4 MPa</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75409365"/>
                      </a:ext>
                    </a:extLst>
                  </a:tr>
                  <a:tr h="492951">
                    <a:tc>
                      <a:txBody>
                        <a:bodyPr/>
                        <a:lstStyle/>
                        <a:p>
                          <a:endParaRPr lang="en-US"/>
                        </a:p>
                      </a:txBody>
                      <a:tcPr marL="68580" marR="68580" marT="0" marB="0">
                        <a:blipFill>
                          <a:blip r:embed="rId2"/>
                          <a:stretch>
                            <a:fillRect l="-150" t="-181481" r="-100300" b="-24691"/>
                          </a:stretch>
                        </a:blipFill>
                      </a:tcPr>
                    </a:tc>
                    <a:tc>
                      <a:txBody>
                        <a:bodyPr/>
                        <a:lstStyle/>
                        <a:p>
                          <a:pPr marL="0" marR="0" algn="ctr">
                            <a:lnSpc>
                              <a:spcPct val="107000"/>
                            </a:lnSpc>
                            <a:spcAft>
                              <a:spcPts val="800"/>
                            </a:spcAft>
                            <a:buNone/>
                          </a:pP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104.3 MPa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96362683"/>
                      </a:ext>
                    </a:extLst>
                  </a:tr>
                </a:tbl>
              </a:graphicData>
            </a:graphic>
          </p:graphicFrame>
        </mc:Fallback>
      </mc:AlternateContent>
      <p:sp>
        <p:nvSpPr>
          <p:cNvPr id="5" name="Slide Number Placeholder 4">
            <a:extLst>
              <a:ext uri="{FF2B5EF4-FFF2-40B4-BE49-F238E27FC236}">
                <a16:creationId xmlns:a16="http://schemas.microsoft.com/office/drawing/2014/main" id="{C184C5F0-1C5F-FA5E-128B-56755A121113}"/>
              </a:ext>
            </a:extLst>
          </p:cNvPr>
          <p:cNvSpPr>
            <a:spLocks noGrp="1"/>
          </p:cNvSpPr>
          <p:nvPr>
            <p:ph type="sldNum" sz="quarter" idx="12"/>
          </p:nvPr>
        </p:nvSpPr>
        <p:spPr/>
        <p:txBody>
          <a:bodyPr/>
          <a:lstStyle/>
          <a:p>
            <a:fld id="{5D84065D-F351-4B03-BD91-D8A6B8D4B362}" type="slidenum">
              <a:rPr lang="en-US" smtClean="0"/>
              <a:t>25</a:t>
            </a:fld>
            <a:endParaRPr lang="en-US" dirty="0"/>
          </a:p>
        </p:txBody>
      </p:sp>
      <p:sp>
        <p:nvSpPr>
          <p:cNvPr id="6" name="Date Placeholder 5">
            <a:extLst>
              <a:ext uri="{FF2B5EF4-FFF2-40B4-BE49-F238E27FC236}">
                <a16:creationId xmlns:a16="http://schemas.microsoft.com/office/drawing/2014/main" id="{F78675C5-CE31-D0A0-69F9-A4C6C3505B68}"/>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21385089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Manufacturing Considerations</a:t>
            </a:r>
          </a:p>
        </p:txBody>
      </p:sp>
      <p:sp>
        <p:nvSpPr>
          <p:cNvPr id="3" name="Content Placeholder 2"/>
          <p:cNvSpPr>
            <a:spLocks noGrp="1"/>
          </p:cNvSpPr>
          <p:nvPr>
            <p:ph idx="1"/>
          </p:nvPr>
        </p:nvSpPr>
        <p:spPr/>
        <p:txBody>
          <a:bodyPr>
            <a:noAutofit/>
          </a:bodyPr>
          <a:lstStyle/>
          <a:p>
            <a:r>
              <a:rPr lang="en-GB" sz="1600" b="1" dirty="0"/>
              <a:t>Manufacturing Methods</a:t>
            </a:r>
          </a:p>
          <a:p>
            <a:r>
              <a:rPr lang="en-GB" sz="1600" dirty="0"/>
              <a:t>Forging</a:t>
            </a:r>
          </a:p>
          <a:p>
            <a:r>
              <a:rPr lang="en-GB" sz="1600" dirty="0"/>
              <a:t>Machining</a:t>
            </a:r>
          </a:p>
          <a:p>
            <a:r>
              <a:rPr lang="en-GB" sz="1600" dirty="0"/>
              <a:t>Heat Treatment</a:t>
            </a:r>
          </a:p>
          <a:p>
            <a:r>
              <a:rPr lang="en-GB" sz="1600" dirty="0"/>
              <a:t>Grinding</a:t>
            </a:r>
          </a:p>
          <a:p>
            <a:r>
              <a:rPr lang="en-GB" sz="1600" b="1" dirty="0"/>
              <a:t>Importance</a:t>
            </a:r>
          </a:p>
          <a:p>
            <a:r>
              <a:rPr lang="en-GB" sz="1600" dirty="0"/>
              <a:t>Ensures dimensional accuracy</a:t>
            </a:r>
          </a:p>
          <a:p>
            <a:r>
              <a:rPr lang="en-GB" sz="1600" dirty="0"/>
              <a:t>Improves mechanical properties</a:t>
            </a:r>
          </a:p>
          <a:p>
            <a:r>
              <a:rPr lang="en-GB" sz="1600" dirty="0"/>
              <a:t>Enhances durability and service life</a:t>
            </a:r>
          </a:p>
        </p:txBody>
      </p:sp>
      <p:sp>
        <p:nvSpPr>
          <p:cNvPr id="4" name="Slide Number Placeholder 3">
            <a:extLst>
              <a:ext uri="{FF2B5EF4-FFF2-40B4-BE49-F238E27FC236}">
                <a16:creationId xmlns:a16="http://schemas.microsoft.com/office/drawing/2014/main" id="{AD0F96F4-A2A9-9AF5-A21D-C21BA9AB9EF9}"/>
              </a:ext>
            </a:extLst>
          </p:cNvPr>
          <p:cNvSpPr>
            <a:spLocks noGrp="1"/>
          </p:cNvSpPr>
          <p:nvPr>
            <p:ph type="sldNum" sz="quarter" idx="12"/>
          </p:nvPr>
        </p:nvSpPr>
        <p:spPr/>
        <p:txBody>
          <a:bodyPr/>
          <a:lstStyle/>
          <a:p>
            <a:fld id="{5D84065D-F351-4B03-BD91-D8A6B8D4B362}" type="slidenum">
              <a:rPr lang="en-US" smtClean="0"/>
              <a:t>26</a:t>
            </a:fld>
            <a:endParaRPr lang="en-US" dirty="0"/>
          </a:p>
        </p:txBody>
      </p:sp>
      <p:sp>
        <p:nvSpPr>
          <p:cNvPr id="5" name="Date Placeholder 4">
            <a:extLst>
              <a:ext uri="{FF2B5EF4-FFF2-40B4-BE49-F238E27FC236}">
                <a16:creationId xmlns:a16="http://schemas.microsoft.com/office/drawing/2014/main" id="{660A2A97-9FDD-A4A2-FFEA-3697EC03D358}"/>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383282721"/>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382CEB18-98CD-6219-0190-1656567EF5E3}"/>
              </a:ext>
            </a:extLst>
          </p:cNvPr>
          <p:cNvSpPr>
            <a:spLocks noGrp="1"/>
          </p:cNvSpPr>
          <p:nvPr>
            <p:ph type="title"/>
          </p:nvPr>
        </p:nvSpPr>
        <p:spPr/>
        <p:txBody>
          <a:bodyPr>
            <a:normAutofit fontScale="90000"/>
          </a:bodyPr>
          <a:lstStyle/>
          <a:p>
            <a:r>
              <a:rPr lang="en-US" dirty="0"/>
              <a:t>Point Load on Two Points Real life Example</a:t>
            </a:r>
          </a:p>
        </p:txBody>
      </p:sp>
      <p:pic>
        <p:nvPicPr>
          <p:cNvPr id="15" name="Content Placeholder 14">
            <a:extLst>
              <a:ext uri="{FF2B5EF4-FFF2-40B4-BE49-F238E27FC236}">
                <a16:creationId xmlns:a16="http://schemas.microsoft.com/office/drawing/2014/main" id="{D4FCA894-BC23-F8B6-B815-90895EF3C276}"/>
              </a:ext>
            </a:extLst>
          </p:cNvPr>
          <p:cNvPicPr>
            <a:picLocks noGrp="1" noChangeAspect="1"/>
          </p:cNvPicPr>
          <p:nvPr>
            <p:ph sz="half" idx="1"/>
          </p:nvPr>
        </p:nvPicPr>
        <p:blipFill>
          <a:blip r:embed="rId2"/>
          <a:srcRect b="9610"/>
          <a:stretch>
            <a:fillRect/>
          </a:stretch>
        </p:blipFill>
        <p:spPr>
          <a:xfrm>
            <a:off x="1295402" y="2560638"/>
            <a:ext cx="4558860" cy="3220052"/>
          </a:xfrm>
          <a:prstGeom prst="rect">
            <a:avLst/>
          </a:prstGeom>
        </p:spPr>
      </p:pic>
      <p:pic>
        <p:nvPicPr>
          <p:cNvPr id="17" name="Content Placeholder 16">
            <a:extLst>
              <a:ext uri="{FF2B5EF4-FFF2-40B4-BE49-F238E27FC236}">
                <a16:creationId xmlns:a16="http://schemas.microsoft.com/office/drawing/2014/main" id="{775B4E01-BE11-025C-E816-C1090ADF3D0A}"/>
              </a:ext>
            </a:extLst>
          </p:cNvPr>
          <p:cNvPicPr>
            <a:picLocks noGrp="1" noChangeAspect="1"/>
          </p:cNvPicPr>
          <p:nvPr>
            <p:ph sz="half" idx="2"/>
          </p:nvPr>
        </p:nvPicPr>
        <p:blipFill>
          <a:blip r:embed="rId3"/>
          <a:srcRect b="9610"/>
          <a:stretch>
            <a:fillRect/>
          </a:stretch>
        </p:blipFill>
        <p:spPr>
          <a:xfrm>
            <a:off x="6337740" y="2560638"/>
            <a:ext cx="4558858" cy="3220052"/>
          </a:xfrm>
          <a:prstGeom prst="rect">
            <a:avLst/>
          </a:prstGeom>
        </p:spPr>
      </p:pic>
      <p:sp>
        <p:nvSpPr>
          <p:cNvPr id="18" name="Slide Number Placeholder 17">
            <a:extLst>
              <a:ext uri="{FF2B5EF4-FFF2-40B4-BE49-F238E27FC236}">
                <a16:creationId xmlns:a16="http://schemas.microsoft.com/office/drawing/2014/main" id="{364AFAC9-F5B4-25FD-489C-84390A86F40C}"/>
              </a:ext>
            </a:extLst>
          </p:cNvPr>
          <p:cNvSpPr>
            <a:spLocks noGrp="1"/>
          </p:cNvSpPr>
          <p:nvPr>
            <p:ph type="sldNum" sz="quarter" idx="12"/>
          </p:nvPr>
        </p:nvSpPr>
        <p:spPr/>
        <p:txBody>
          <a:bodyPr/>
          <a:lstStyle/>
          <a:p>
            <a:fld id="{5D84065D-F351-4B03-BD91-D8A6B8D4B362}" type="slidenum">
              <a:rPr lang="en-US" smtClean="0"/>
              <a:t>27</a:t>
            </a:fld>
            <a:endParaRPr lang="en-US" dirty="0"/>
          </a:p>
        </p:txBody>
      </p:sp>
      <p:sp>
        <p:nvSpPr>
          <p:cNvPr id="19" name="Date Placeholder 18">
            <a:extLst>
              <a:ext uri="{FF2B5EF4-FFF2-40B4-BE49-F238E27FC236}">
                <a16:creationId xmlns:a16="http://schemas.microsoft.com/office/drawing/2014/main" id="{7A444CB6-B79A-FE52-49C5-595F714ABB89}"/>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5195540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A9C73B-9038-8F56-D242-7B53465B182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59723" y="515007"/>
            <a:ext cx="7672553" cy="5780690"/>
          </a:xfrm>
          <a:prstGeom prst="rect">
            <a:avLst/>
          </a:prstGeom>
          <a:noFill/>
          <a:ln>
            <a:noFill/>
          </a:ln>
        </p:spPr>
      </p:pic>
      <p:sp>
        <p:nvSpPr>
          <p:cNvPr id="5" name="Slide Number Placeholder 4">
            <a:extLst>
              <a:ext uri="{FF2B5EF4-FFF2-40B4-BE49-F238E27FC236}">
                <a16:creationId xmlns:a16="http://schemas.microsoft.com/office/drawing/2014/main" id="{D568DEDB-961B-3E18-84FD-1AC1E20ABEF6}"/>
              </a:ext>
            </a:extLst>
          </p:cNvPr>
          <p:cNvSpPr>
            <a:spLocks noGrp="1"/>
          </p:cNvSpPr>
          <p:nvPr>
            <p:ph type="sldNum" sz="quarter" idx="12"/>
          </p:nvPr>
        </p:nvSpPr>
        <p:spPr/>
        <p:txBody>
          <a:bodyPr/>
          <a:lstStyle/>
          <a:p>
            <a:fld id="{D57F1E4F-1CFF-5643-939E-217C01CDF565}" type="slidenum">
              <a:rPr lang="en-US" smtClean="0"/>
              <a:pPr/>
              <a:t>28</a:t>
            </a:fld>
            <a:endParaRPr lang="en-US" dirty="0"/>
          </a:p>
        </p:txBody>
      </p:sp>
      <p:sp>
        <p:nvSpPr>
          <p:cNvPr id="6" name="Date Placeholder 5">
            <a:extLst>
              <a:ext uri="{FF2B5EF4-FFF2-40B4-BE49-F238E27FC236}">
                <a16:creationId xmlns:a16="http://schemas.microsoft.com/office/drawing/2014/main" id="{9BCCA97E-CE3B-1CD1-F0C3-FF485A6AD1D4}"/>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38246840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Limitations </a:t>
            </a:r>
          </a:p>
        </p:txBody>
      </p:sp>
      <p:sp>
        <p:nvSpPr>
          <p:cNvPr id="4" name="Rectangle 1"/>
          <p:cNvSpPr>
            <a:spLocks noGrp="1" noChangeArrowheads="1"/>
          </p:cNvSpPr>
          <p:nvPr>
            <p:ph idx="1"/>
          </p:nvPr>
        </p:nvSpPr>
        <p:spPr bwMode="auto">
          <a:xfrm>
            <a:off x="1295401" y="2556932"/>
            <a:ext cx="5791009"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Dynamic loading effects simplified</a:t>
            </a:r>
          </a:p>
          <a:p>
            <a:pPr marL="0" marR="0" lvl="0" indent="0" algn="l" defTabSz="914400" rtl="0" eaLnBrk="0" fontAlgn="base" latinLnBrk="0" hangingPunct="0">
              <a:lnSpc>
                <a:spcPct val="15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Detailed fatigue analysis not performed</a:t>
            </a:r>
          </a:p>
          <a:p>
            <a:pPr marL="0" marR="0" lvl="0" indent="0" algn="l" defTabSz="914400" rtl="0" eaLnBrk="0" fontAlgn="base" latinLnBrk="0" hangingPunct="0">
              <a:lnSpc>
                <a:spcPct val="15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Stress concentration effects neglected</a:t>
            </a:r>
          </a:p>
          <a:p>
            <a:pPr marL="0" marR="0" lvl="0" indent="0" algn="l" defTabSz="914400" rtl="0" eaLnBrk="0" fontAlgn="base" latinLnBrk="0" hangingPunct="0">
              <a:lnSpc>
                <a:spcPct val="15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Temperature effects not considered</a:t>
            </a:r>
          </a:p>
          <a:p>
            <a:pPr marL="0" marR="0" lvl="0" indent="0" algn="l" defTabSz="914400" rtl="0" eaLnBrk="0" fontAlgn="base" latinLnBrk="0" hangingPunct="0">
              <a:lnSpc>
                <a:spcPct val="15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Finite Element Analysis (FEA) not included </a:t>
            </a:r>
          </a:p>
        </p:txBody>
      </p:sp>
      <p:sp>
        <p:nvSpPr>
          <p:cNvPr id="3" name="Slide Number Placeholder 2">
            <a:extLst>
              <a:ext uri="{FF2B5EF4-FFF2-40B4-BE49-F238E27FC236}">
                <a16:creationId xmlns:a16="http://schemas.microsoft.com/office/drawing/2014/main" id="{DE356D37-2583-05F7-E5E3-B60980E7CFD3}"/>
              </a:ext>
            </a:extLst>
          </p:cNvPr>
          <p:cNvSpPr>
            <a:spLocks noGrp="1"/>
          </p:cNvSpPr>
          <p:nvPr>
            <p:ph type="sldNum" sz="quarter" idx="12"/>
          </p:nvPr>
        </p:nvSpPr>
        <p:spPr/>
        <p:txBody>
          <a:bodyPr/>
          <a:lstStyle/>
          <a:p>
            <a:fld id="{5D84065D-F351-4B03-BD91-D8A6B8D4B362}" type="slidenum">
              <a:rPr lang="en-US" smtClean="0"/>
              <a:t>29</a:t>
            </a:fld>
            <a:endParaRPr lang="en-US" dirty="0"/>
          </a:p>
        </p:txBody>
      </p:sp>
      <p:sp>
        <p:nvSpPr>
          <p:cNvPr id="5" name="Date Placeholder 4">
            <a:extLst>
              <a:ext uri="{FF2B5EF4-FFF2-40B4-BE49-F238E27FC236}">
                <a16:creationId xmlns:a16="http://schemas.microsoft.com/office/drawing/2014/main" id="{715688AF-93EB-35F4-4F43-B89B18A87781}"/>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1511235773"/>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Sources of Error</a:t>
            </a:r>
          </a:p>
        </p:txBody>
      </p:sp>
      <p:sp>
        <p:nvSpPr>
          <p:cNvPr id="4" name="Rectangle 1"/>
          <p:cNvSpPr>
            <a:spLocks noGrp="1" noChangeArrowheads="1"/>
          </p:cNvSpPr>
          <p:nvPr>
            <p:ph idx="1"/>
          </p:nvPr>
        </p:nvSpPr>
        <p:spPr bwMode="auto">
          <a:xfrm>
            <a:off x="1295400" y="2556932"/>
            <a:ext cx="4800599" cy="2934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Shock factor approximation</a:t>
            </a:r>
          </a:p>
          <a:p>
            <a:pPr marL="0" marR="0" lvl="0" indent="0" algn="l" defTabSz="914400" rtl="0" eaLnBrk="0" fontAlgn="base" latinLnBrk="0" hangingPunct="0">
              <a:lnSpc>
                <a:spcPct val="20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Material property variations</a:t>
            </a:r>
          </a:p>
          <a:p>
            <a:pPr marL="0" marR="0" lvl="0" indent="0" algn="l" defTabSz="914400" rtl="0" eaLnBrk="0" fontAlgn="base" latinLnBrk="0" hangingPunct="0">
              <a:lnSpc>
                <a:spcPct val="20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Dimensional inaccuracies</a:t>
            </a:r>
          </a:p>
          <a:p>
            <a:pPr marL="0" marR="0" lvl="0" indent="0" algn="l" defTabSz="914400" rtl="0" eaLnBrk="0" fontAlgn="base" latinLnBrk="0" hangingPunct="0">
              <a:lnSpc>
                <a:spcPct val="20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Human calculation errors </a:t>
            </a:r>
          </a:p>
        </p:txBody>
      </p:sp>
      <p:sp>
        <p:nvSpPr>
          <p:cNvPr id="3" name="Slide Number Placeholder 2">
            <a:extLst>
              <a:ext uri="{FF2B5EF4-FFF2-40B4-BE49-F238E27FC236}">
                <a16:creationId xmlns:a16="http://schemas.microsoft.com/office/drawing/2014/main" id="{3CEAFA1B-135C-A2EE-6F15-AB38AC9BF198}"/>
              </a:ext>
            </a:extLst>
          </p:cNvPr>
          <p:cNvSpPr>
            <a:spLocks noGrp="1"/>
          </p:cNvSpPr>
          <p:nvPr>
            <p:ph type="sldNum" sz="quarter" idx="12"/>
          </p:nvPr>
        </p:nvSpPr>
        <p:spPr/>
        <p:txBody>
          <a:bodyPr/>
          <a:lstStyle/>
          <a:p>
            <a:fld id="{5D84065D-F351-4B03-BD91-D8A6B8D4B362}" type="slidenum">
              <a:rPr lang="en-US" smtClean="0"/>
              <a:t>30</a:t>
            </a:fld>
            <a:endParaRPr lang="en-US" dirty="0"/>
          </a:p>
        </p:txBody>
      </p:sp>
      <p:sp>
        <p:nvSpPr>
          <p:cNvPr id="5" name="Date Placeholder 4">
            <a:extLst>
              <a:ext uri="{FF2B5EF4-FFF2-40B4-BE49-F238E27FC236}">
                <a16:creationId xmlns:a16="http://schemas.microsoft.com/office/drawing/2014/main" id="{3FC4F6F9-05E0-688C-562B-F695ACF29F4F}"/>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1791994488"/>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 </a:t>
            </a:r>
          </a:p>
        </p:txBody>
      </p:sp>
      <p:sp>
        <p:nvSpPr>
          <p:cNvPr id="4" name="Rectangle 1"/>
          <p:cNvSpPr>
            <a:spLocks noGrp="1" noChangeArrowheads="1"/>
          </p:cNvSpPr>
          <p:nvPr>
            <p:ph idx="1"/>
          </p:nvPr>
        </p:nvSpPr>
        <p:spPr bwMode="auto">
          <a:xfrm>
            <a:off x="1295401" y="2556932"/>
            <a:ext cx="6080511" cy="2241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Rear dead axle successfully designed.</a:t>
            </a:r>
          </a:p>
          <a:p>
            <a:pPr marL="0" marR="0" lvl="0" indent="0" algn="l" defTabSz="914400" rtl="0" eaLnBrk="0" fontAlgn="base" latinLnBrk="0" hangingPunct="0">
              <a:lnSpc>
                <a:spcPct val="15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AISI 4140 improved structural performance.</a:t>
            </a:r>
          </a:p>
          <a:p>
            <a:pPr marL="0" marR="0" lvl="0" indent="0" algn="l" defTabSz="914400" rtl="0" eaLnBrk="0" fontAlgn="base" latinLnBrk="0" hangingPunct="0">
              <a:lnSpc>
                <a:spcPct val="15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Stresses remained within new allowable limits.</a:t>
            </a:r>
          </a:p>
          <a:p>
            <a:pPr marL="0" marR="0" lvl="0" indent="0" algn="l" defTabSz="914400" rtl="0" eaLnBrk="0" fontAlgn="base" latinLnBrk="0" hangingPunct="0">
              <a:lnSpc>
                <a:spcPct val="15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Design achieved safe and reliable operation. </a:t>
            </a:r>
          </a:p>
        </p:txBody>
      </p:sp>
      <p:sp>
        <p:nvSpPr>
          <p:cNvPr id="3" name="Slide Number Placeholder 2">
            <a:extLst>
              <a:ext uri="{FF2B5EF4-FFF2-40B4-BE49-F238E27FC236}">
                <a16:creationId xmlns:a16="http://schemas.microsoft.com/office/drawing/2014/main" id="{59C7943B-6F7C-FDD6-A8A9-8711F6B9BCA5}"/>
              </a:ext>
            </a:extLst>
          </p:cNvPr>
          <p:cNvSpPr>
            <a:spLocks noGrp="1"/>
          </p:cNvSpPr>
          <p:nvPr>
            <p:ph type="sldNum" sz="quarter" idx="12"/>
          </p:nvPr>
        </p:nvSpPr>
        <p:spPr/>
        <p:txBody>
          <a:bodyPr/>
          <a:lstStyle/>
          <a:p>
            <a:fld id="{5D84065D-F351-4B03-BD91-D8A6B8D4B362}" type="slidenum">
              <a:rPr lang="en-US" smtClean="0"/>
              <a:t>31</a:t>
            </a:fld>
            <a:endParaRPr lang="en-US" dirty="0"/>
          </a:p>
        </p:txBody>
      </p:sp>
      <p:sp>
        <p:nvSpPr>
          <p:cNvPr id="5" name="Date Placeholder 4">
            <a:extLst>
              <a:ext uri="{FF2B5EF4-FFF2-40B4-BE49-F238E27FC236}">
                <a16:creationId xmlns:a16="http://schemas.microsoft.com/office/drawing/2014/main" id="{4D88700B-F6F9-D032-7A91-7F8435347F3F}"/>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787912023"/>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Future Recommendations</a:t>
            </a:r>
          </a:p>
        </p:txBody>
      </p:sp>
      <p:sp>
        <p:nvSpPr>
          <p:cNvPr id="4" name="Rectangle 1"/>
          <p:cNvSpPr>
            <a:spLocks noGrp="1" noChangeArrowheads="1"/>
          </p:cNvSpPr>
          <p:nvPr>
            <p:ph idx="1"/>
          </p:nvPr>
        </p:nvSpPr>
        <p:spPr bwMode="auto">
          <a:xfrm>
            <a:off x="1295401" y="2556932"/>
            <a:ext cx="4539063"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Finite Element Analysis (ANSYS)</a:t>
            </a:r>
          </a:p>
          <a:p>
            <a:pPr marL="0" marR="0" lvl="0" indent="0" algn="l" defTabSz="914400" rtl="0" eaLnBrk="0" fontAlgn="base" latinLnBrk="0" hangingPunct="0">
              <a:lnSpc>
                <a:spcPct val="15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Fatigue life estimation</a:t>
            </a:r>
          </a:p>
          <a:p>
            <a:pPr marL="0" marR="0" lvl="0" indent="0" algn="l" defTabSz="914400" rtl="0" eaLnBrk="0" fontAlgn="base" latinLnBrk="0" hangingPunct="0">
              <a:lnSpc>
                <a:spcPct val="15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Experimental testing</a:t>
            </a:r>
          </a:p>
          <a:p>
            <a:pPr marL="0" marR="0" lvl="0" indent="0" algn="l" defTabSz="914400" rtl="0" eaLnBrk="0" fontAlgn="base" latinLnBrk="0" hangingPunct="0">
              <a:lnSpc>
                <a:spcPct val="15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Composite material design</a:t>
            </a:r>
          </a:p>
          <a:p>
            <a:pPr marL="0" marR="0" lvl="0" indent="0" algn="l" defTabSz="914400" rtl="0" eaLnBrk="0" fontAlgn="base" latinLnBrk="0" hangingPunct="0">
              <a:lnSpc>
                <a:spcPct val="150000"/>
              </a:lnSpc>
              <a:spcBef>
                <a:spcPct val="0"/>
              </a:spcBef>
              <a:spcAft>
                <a:spcPct val="0"/>
              </a:spcAft>
              <a:buSzTx/>
              <a:buFontTx/>
              <a:buChar char="•"/>
              <a:tabLst/>
            </a:pPr>
            <a:r>
              <a:rPr kumimoji="0" lang="en-US" altLang="en-US" b="0" i="0" u="none" strike="noStrike" cap="none" normalizeH="0" baseline="0" dirty="0">
                <a:ln>
                  <a:noFill/>
                </a:ln>
                <a:solidFill>
                  <a:schemeClr val="tx1"/>
                </a:solidFill>
                <a:effectLst/>
                <a:latin typeface="+mj-lt"/>
              </a:rPr>
              <a:t>Dynamic vibration analysis </a:t>
            </a:r>
          </a:p>
        </p:txBody>
      </p:sp>
      <p:sp>
        <p:nvSpPr>
          <p:cNvPr id="3" name="Slide Number Placeholder 2">
            <a:extLst>
              <a:ext uri="{FF2B5EF4-FFF2-40B4-BE49-F238E27FC236}">
                <a16:creationId xmlns:a16="http://schemas.microsoft.com/office/drawing/2014/main" id="{307C1DCD-CC8B-DAB8-7EB5-735CA010AE90}"/>
              </a:ext>
            </a:extLst>
          </p:cNvPr>
          <p:cNvSpPr>
            <a:spLocks noGrp="1"/>
          </p:cNvSpPr>
          <p:nvPr>
            <p:ph type="sldNum" sz="quarter" idx="12"/>
          </p:nvPr>
        </p:nvSpPr>
        <p:spPr/>
        <p:txBody>
          <a:bodyPr/>
          <a:lstStyle/>
          <a:p>
            <a:fld id="{5D84065D-F351-4B03-BD91-D8A6B8D4B362}" type="slidenum">
              <a:rPr lang="en-US" smtClean="0"/>
              <a:t>32</a:t>
            </a:fld>
            <a:endParaRPr lang="en-US" dirty="0"/>
          </a:p>
        </p:txBody>
      </p:sp>
      <p:sp>
        <p:nvSpPr>
          <p:cNvPr id="5" name="Date Placeholder 4">
            <a:extLst>
              <a:ext uri="{FF2B5EF4-FFF2-40B4-BE49-F238E27FC236}">
                <a16:creationId xmlns:a16="http://schemas.microsoft.com/office/drawing/2014/main" id="{D177FD89-31A0-883D-9C50-375B0E4E470A}"/>
              </a:ext>
            </a:extLst>
          </p:cNvPr>
          <p:cNvSpPr>
            <a:spLocks noGrp="1"/>
          </p:cNvSpPr>
          <p:nvPr>
            <p:ph type="dt" sz="half" idx="10"/>
          </p:nvPr>
        </p:nvSpPr>
        <p:spPr/>
        <p:txBody>
          <a:bodyPr/>
          <a:lstStyle/>
          <a:p>
            <a:r>
              <a:rPr lang="en-US"/>
              <a:t>6/1/2026</a:t>
            </a:r>
            <a:endParaRPr lang="en-US" dirty="0"/>
          </a:p>
        </p:txBody>
      </p:sp>
    </p:spTree>
    <p:extLst>
      <p:ext uri="{BB962C8B-B14F-4D97-AF65-F5344CB8AC3E}">
        <p14:creationId xmlns:p14="http://schemas.microsoft.com/office/powerpoint/2010/main" val="2381237770"/>
      </p:ext>
    </p:extLst>
  </p:cSld>
  <p:clrMapOvr>
    <a:masterClrMapping/>
  </p:clrMapOvr>
  <p:transition spd="slow">
    <p:push dir="u"/>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AB946B"/>
      </a:accent1>
      <a:accent2>
        <a:srgbClr val="C04F32"/>
      </a:accent2>
      <a:accent3>
        <a:srgbClr val="DD8C3C"/>
      </a:accent3>
      <a:accent4>
        <a:srgbClr val="8E684C"/>
      </a:accent4>
      <a:accent5>
        <a:srgbClr val="CBAF62"/>
      </a:accent5>
      <a:accent6>
        <a:srgbClr val="803348"/>
      </a:accent6>
      <a:hlink>
        <a:srgbClr val="86724D"/>
      </a:hlink>
      <a:folHlink>
        <a:srgbClr val="B99E84"/>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A2BEDC8B-F191-493B-BA33-0F4F800A89D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804</TotalTime>
  <Words>1136</Words>
  <Application>Microsoft Office PowerPoint</Application>
  <PresentationFormat>Widescreen</PresentationFormat>
  <Paragraphs>305</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Cambria Math</vt:lpstr>
      <vt:lpstr>Times New Roman</vt:lpstr>
      <vt:lpstr>Organic</vt:lpstr>
      <vt:lpstr>Mechanics of Material-II</vt:lpstr>
      <vt:lpstr>Project Title</vt:lpstr>
      <vt:lpstr>Group Members</vt:lpstr>
      <vt:lpstr>Introduction</vt:lpstr>
      <vt:lpstr>Importance of Rear Axle</vt:lpstr>
      <vt:lpstr>Aim of the Project</vt:lpstr>
      <vt:lpstr>Project Objectives </vt:lpstr>
      <vt:lpstr>Literature Review</vt:lpstr>
      <vt:lpstr>Dead Axle Overview</vt:lpstr>
      <vt:lpstr>Live Axle Vs Dead Axle</vt:lpstr>
      <vt:lpstr>Hyundai H-100 Overview</vt:lpstr>
      <vt:lpstr>Design Methodology</vt:lpstr>
      <vt:lpstr>Design Assumption</vt:lpstr>
      <vt:lpstr>Load Calculations</vt:lpstr>
      <vt:lpstr>Support Reactions</vt:lpstr>
      <vt:lpstr>Shear Force Analysis</vt:lpstr>
      <vt:lpstr>Bending Moment Analysis</vt:lpstr>
      <vt:lpstr>Optimization and Factor of Safety</vt:lpstr>
      <vt:lpstr>Allowable Stresses</vt:lpstr>
      <vt:lpstr>Bending Stress Equation</vt:lpstr>
      <vt:lpstr>Shear stress</vt:lpstr>
      <vt:lpstr>Principle stresses</vt:lpstr>
      <vt:lpstr>Principle stress formula</vt:lpstr>
      <vt:lpstr>Results</vt:lpstr>
      <vt:lpstr>Error Correction </vt:lpstr>
      <vt:lpstr>Manufacturing Considerations</vt:lpstr>
      <vt:lpstr>Point Load on Two Points Real life Example</vt:lpstr>
      <vt:lpstr>PowerPoint Presentation</vt:lpstr>
      <vt:lpstr>Limitations </vt:lpstr>
      <vt:lpstr>Sources of Error</vt:lpstr>
      <vt:lpstr>Conclusion </vt:lpstr>
      <vt:lpstr>Future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Mechanics of Material-II</dc:title>
  <dc:creator>junaid yasin</dc:creator>
  <cp:lastModifiedBy>hp</cp:lastModifiedBy>
  <cp:revision>23</cp:revision>
  <dcterms:created xsi:type="dcterms:W3CDTF">2026-05-29T17:10:11Z</dcterms:created>
  <dcterms:modified xsi:type="dcterms:W3CDTF">2026-05-31T19:23:48Z</dcterms:modified>
</cp:coreProperties>
</file>